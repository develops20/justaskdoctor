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41f35fdece46c5" /><Relationship Type="http://schemas.openxmlformats.org/officeDocument/2006/relationships/extended-properties" Target="/docProps/app.xml" Id="R5ae2bc72e22d4fdb" /><Relationship Type="http://schemas.openxmlformats.org/officeDocument/2006/relationships/officeDocument" Target="/ppt/presentation.xml" Id="R85ada187591b485d" /></Relationships>
</file>

<file path=ppt/presentation.xml><?xml version="1.0" encoding="utf-8"?>
<p:presentation xmlns:p="http://schemas.openxmlformats.org/presentationml/2006/main">
  <p:sldMasterIdLst>
    <p:sldMasterId xmlns:r="http://schemas.openxmlformats.org/officeDocument/2006/relationships" id="2147483648" r:id="R6dffa454023a402b"/>
  </p:sldMasterIdLst>
  <p:notesMasterIdLst>
    <p:notesMasterId xmlns:r="http://schemas.openxmlformats.org/officeDocument/2006/relationships" r:id="R31a2397149e04d8b"/>
  </p:notesMasterIdLst>
  <p:sldIdLst>
    <p:sldId xmlns:r="http://schemas.openxmlformats.org/officeDocument/2006/relationships" id="256" r:id="R4c47f1d64bae4e51"/>
    <p:sldId xmlns:r="http://schemas.openxmlformats.org/officeDocument/2006/relationships" id="257" r:id="R2e2c77a187544fa1"/>
    <p:sldId xmlns:r="http://schemas.openxmlformats.org/officeDocument/2006/relationships" id="258" r:id="R987c82d60e414877"/>
    <p:sldId xmlns:r="http://schemas.openxmlformats.org/officeDocument/2006/relationships" id="259" r:id="Rc3ee7a3a3d2d4d8c"/>
    <p:sldId xmlns:r="http://schemas.openxmlformats.org/officeDocument/2006/relationships" id="260" r:id="Racdd4c7d9bb64a69"/>
    <p:sldId xmlns:r="http://schemas.openxmlformats.org/officeDocument/2006/relationships" id="261" r:id="R2c6dbbbedf3f4e7b"/>
    <p:sldId xmlns:r="http://schemas.openxmlformats.org/officeDocument/2006/relationships" id="262" r:id="R85598626569348b0"/>
    <p:sldId xmlns:r="http://schemas.openxmlformats.org/officeDocument/2006/relationships" id="263" r:id="Ra0d3ed1533e047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b100315ae84f07" /><Relationship Type="http://schemas.openxmlformats.org/officeDocument/2006/relationships/slideMaster" Target="/ppt/slideMasters/slideMaster1.xml" Id="R6dffa454023a402b" /><Relationship Type="http://schemas.openxmlformats.org/officeDocument/2006/relationships/notesMaster" Target="/ppt/notesMasters/notesMaster1.xml" Id="R31a2397149e04d8b" /><Relationship Type="http://schemas.openxmlformats.org/officeDocument/2006/relationships/presProps" Target="/ppt/presProps.xml" Id="Rbdc1ba5a4d9349ef" /><Relationship Type="http://schemas.openxmlformats.org/officeDocument/2006/relationships/tableStyles" Target="/ppt/tableStyles.xml" Id="Re59d8a5e7b824fe0" /><Relationship Type="http://schemas.openxmlformats.org/officeDocument/2006/relationships/slide" Target="/ppt/slides/slide1.xml" Id="R4c47f1d64bae4e51" /><Relationship Type="http://schemas.openxmlformats.org/officeDocument/2006/relationships/slide" Target="/ppt/slides/slide2.xml" Id="R2e2c77a187544fa1" /><Relationship Type="http://schemas.openxmlformats.org/officeDocument/2006/relationships/slide" Target="/ppt/slides/slide3.xml" Id="R987c82d60e414877" /><Relationship Type="http://schemas.openxmlformats.org/officeDocument/2006/relationships/slide" Target="/ppt/slides/slide4.xml" Id="Rc3ee7a3a3d2d4d8c" /><Relationship Type="http://schemas.openxmlformats.org/officeDocument/2006/relationships/slide" Target="/ppt/slides/slide5.xml" Id="Racdd4c7d9bb64a69" /><Relationship Type="http://schemas.openxmlformats.org/officeDocument/2006/relationships/slide" Target="/ppt/slides/slide6.xml" Id="R2c6dbbbedf3f4e7b" /><Relationship Type="http://schemas.openxmlformats.org/officeDocument/2006/relationships/slide" Target="/ppt/slides/slide7.xml" Id="R85598626569348b0" /><Relationship Type="http://schemas.openxmlformats.org/officeDocument/2006/relationships/slide" Target="/ppt/slides/slide8.xml" Id="Ra0d3ed1533e047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8bedfe0c404a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15fcd5ff834771" /><Relationship Type="http://schemas.openxmlformats.org/officeDocument/2006/relationships/notesMaster" Target="/ppt/notesMasters/notesMaster1.xml" Id="Rea9fa54e06c247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35a8f4a2e14c4e" /><Relationship Type="http://schemas.openxmlformats.org/officeDocument/2006/relationships/notesMaster" Target="/ppt/notesMasters/notesMaster1.xml" Id="R1a19d334e54645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365e01c8937462e" /><Relationship Type="http://schemas.openxmlformats.org/officeDocument/2006/relationships/notesMaster" Target="/ppt/notesMasters/notesMaster1.xml" Id="Rb0e03d06219341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e9c6f334b64ffc" /><Relationship Type="http://schemas.openxmlformats.org/officeDocument/2006/relationships/notesMaster" Target="/ppt/notesMasters/notesMaster1.xml" Id="R1f141658a8a74b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0076b065004946" /><Relationship Type="http://schemas.openxmlformats.org/officeDocument/2006/relationships/notesMaster" Target="/ppt/notesMasters/notesMaster1.xml" Id="R9040537075c44a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24d817f7c1433a" /><Relationship Type="http://schemas.openxmlformats.org/officeDocument/2006/relationships/notesMaster" Target="/ppt/notesMasters/notesMaster1.xml" Id="R9d5aade65ce14dee"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c1c9df23924ba4" /><Relationship Type="http://schemas.openxmlformats.org/officeDocument/2006/relationships/notesMaster" Target="/ppt/notesMasters/notesMaster1.xml" Id="Rab91ce2696f441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22b647163f4fdf" /><Relationship Type="http://schemas.openxmlformats.org/officeDocument/2006/relationships/notesMaster" Target="/ppt/notesMasters/notesMaster1.xml" Id="R9e03e3536da74e5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Small businesses lose bookings when their website fails, but the owner often cannot tell whether the cause is code, configuration or a connected service. JustAsk lets the website explain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demo problem is a silent business failure. The site does not crash. It returns zero booking slots because the selected stylist has no availability schedule assigned.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WordPress is the clearest first market for JustAsk. W3Techs reports that WordPress powers 40.3% of all websites and 58.8% of websites with a known CMS. BuiltWith currently detects 37,259,080 live WordPress sites. W3Techs also reports WooCommerce on 19.8% of WordPress sites, connecting website failures directly to small-business revenue. Figures accessed 12 September 2026.</a:t>
            </a:r>
          </a:p>
          <a:p xmlns:a="http://schemas.openxmlformats.org/drawingml/2006/main">
            <a:r>
              <a:t/>
            </a:r>
          </a:p>
          <a:p xmlns:a="http://schemas.openxmlformats.org/drawingml/2006/main">
            <a:r>
              <a:t>Sources:</a:t>
            </a:r>
          </a:p>
          <a:p xmlns:a="http://schemas.openxmlformats.org/drawingml/2006/main">
            <a:r>
              <a:t>https://w3techs.com/technologies/details/cm-wordpress</a:t>
            </a:r>
          </a:p>
          <a:p xmlns:a="http://schemas.openxmlformats.org/drawingml/2006/main">
            <a:r>
              <a:t>https://trends.builtwith.com/cms/WordPress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Owner Mode makes the environment essential. The business owner does not need to know which API failed. JustAsk receives safe, structured context from the page and registered diagnostic tools.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Spend only a few seconds on this slide, then switch to the live product. The memorable moment is the interruption: the owner changes Friday availability while JustAsk is still speaking, and the proposal updates before approval.</a:t>
            </a:r>
          </a:p>
          <a:p xmlns:a="http://schemas.openxmlformats.org/drawingml/2006/main">
            <a:r>
              <a:t/>
            </a:r>
          </a:p>
          <a:p xmlns:a="http://schemas.openxmlformats.org/drawingml/2006/main">
            <a:r>
              <a:t>Sources:</a:t>
            </a:r>
          </a:p>
          <a:p xmlns:a="http://schemas.openxmlformats.org/drawingml/2006/main">
            <a:r>
              <a:t>https://openai.com/index/introducing-gpt-live-1-in-the-api/</a:t>
            </a:r>
          </a:p>
          <a:p xmlns:a="http://schemas.openxmlformats.org/drawingml/2006/main">
            <a:r>
              <a:t>https://cal.com/help/availabilities/set-up-your-availability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host application controls what the agent can observe and do. The MVP records a safe diagnostic event journal and exposes typed actions. It never captures cookies, credentials, payment details or customer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OpenAI remains the single voice experience. Exa grounds the diagnosis in trusted documentation. CopilotKit connects findings and approval to the website. Ambiguous AI becomes an optional destination for the verified resolution record.</a:t>
            </a:r>
          </a:p>
          <a:p xmlns:a="http://schemas.openxmlformats.org/drawingml/2006/main">
            <a:r>
              <a:t/>
            </a:r>
          </a:p>
          <a:p xmlns:a="http://schemas.openxmlformats.org/drawingml/2006/main">
            <a:r>
              <a:t>Sources:</a:t>
            </a:r>
          </a:p>
          <a:p xmlns:a="http://schemas.openxmlformats.org/drawingml/2006/main">
            <a:r>
              <a:t>https://openai.com/index/introducing-gpt-live-1-in-the-api/</a:t>
            </a:r>
          </a:p>
          <a:p xmlns:a="http://schemas.openxmlformats.org/drawingml/2006/main">
            <a:r>
              <a:t>https://exa.ai/docs</a:t>
            </a:r>
          </a:p>
          <a:p xmlns:a="http://schemas.openxmlformats.org/drawingml/2006/main">
            <a:r>
              <a:t>https://docs.copilotkit.ai/shared-state</a:t>
            </a:r>
          </a:p>
          <a:p xmlns:a="http://schemas.openxmlformats.org/drawingml/2006/main">
            <a:r>
              <a:t>https://docs.copilotkit.ai/a2a/human-in-the-loop</a:t>
            </a:r>
          </a:p>
          <a:p xmlns:a="http://schemas.openxmlformats.org/drawingml/2006/main">
            <a:r>
              <a:t>https://www.ambiguous.ai/agents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outcome. The customer can book again, and the owner understands what changed. JustAsk handles safe configuration failures immediately and produces a developer-ready report for problems that genuinely require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b9f5b1180948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a94eaa492f410b" /><Relationship Type="http://schemas.openxmlformats.org/officeDocument/2006/relationships/slideLayout" Target="/ppt/slideLayouts/slideLayout1.xml" Id="R76a4add3775143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a4add3775143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599771db944911" /><Relationship Type="http://schemas.openxmlformats.org/officeDocument/2006/relationships/image" Target="/ppt/media/image.png" Id="Rf45672d59dd34b65" /><Relationship Type="http://schemas.openxmlformats.org/officeDocument/2006/relationships/notesSlide" Target="/ppt/notesSlides/notesSlide1.xml" Id="Re8c2fe771f104d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bc7cc426f74cea" /><Relationship Type="http://schemas.openxmlformats.org/officeDocument/2006/relationships/notesSlide" Target="/ppt/notesSlides/notesSlide2.xml" Id="R8c149d0de5f242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cf1f957f01b4546" /><Relationship Type="http://schemas.openxmlformats.org/officeDocument/2006/relationships/notesSlide" Target="/ppt/notesSlides/notesSlide3.xml" Id="R53c73f0761434b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dd4b6579aa441a" /><Relationship Type="http://schemas.openxmlformats.org/officeDocument/2006/relationships/notesSlide" Target="/ppt/notesSlides/notesSlide4.xml" Id="R8d007129267a47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3b7cb4720649df" /><Relationship Type="http://schemas.openxmlformats.org/officeDocument/2006/relationships/notesSlide" Target="/ppt/notesSlides/notesSlide5.xml" Id="Re0ec13a7c8424c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a8f88fcf214e1d" /><Relationship Type="http://schemas.openxmlformats.org/officeDocument/2006/relationships/notesSlide" Target="/ppt/notesSlides/notesSlide6.xml" Id="R1eba0bf4dadb42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0a82067d5754b07" /><Relationship Type="http://schemas.openxmlformats.org/officeDocument/2006/relationships/notesSlide" Target="/ppt/notesSlides/notesSlide7.xml" Id="R5a410b35497d449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73f09f4f6a94bcf" /><Relationship Type="http://schemas.openxmlformats.org/officeDocument/2006/relationships/notesSlide" Target="/ppt/notesSlides/notesSlide8.xml" Id="Rf241d163eb2844f8" /></Relationships>
</file>

<file path=ppt/slides/slide1.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45672d59dd34b6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1D9A18-02BC-457E-B8F1-D9145A61DC0C}"/>
              </a:ext>
            </a:extLst>
          </p:cNvPr>
          <p:cNvSpPr>
            <a:spLocks xmlns:a="http://schemas.openxmlformats.org/drawingml/2006/main" noGrp="1"/>
          </p:cNvSpPr>
          <p:nvPr/>
        </p:nvSpPr>
        <p:spPr>
          <a:xfrm xmlns:a="http://schemas.openxmlformats.org/drawingml/2006/main">
            <a:off x="704850" y="1619250"/>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950" b="1">
                <a:solidFill>
                  <a:srgbClr val="111111"/>
                </a:solidFill>
                <a:latin typeface="DejaVu Sans"/>
                <a:ea typeface="DejaVu Sans"/>
                <a:cs typeface="DejaVu Sans"/>
              </a:defRPr>
            </a:pPr>
            <a:r>
              <a:rPr sz="4950" b="1">
                <a:solidFill>
                  <a:srgbClr val="111111"/>
                </a:solidFill>
                <a:latin typeface="DejaVu Sans"/>
                <a:ea typeface="DejaVu Sans"/>
                <a:cs typeface="DejaVu Sans"/>
              </a:rPr>
              <a:t>JustAsk</a:t>
            </a:r>
          </a:p>
        </p:txBody>
      </p:sp>
      <p:sp>
        <p:nvSpPr>
          <p:cNvPr id="3" name="">
            <a:extLst xmlns:a="http://schemas.openxmlformats.org/drawingml/2006/main">
              <a:ext uri="{FF2B5EF4-FFF2-40B4-BE49-F238E27FC236}">
                <a16:creationId xmlns:a16="http://schemas.microsoft.com/office/drawing/2014/main" id="{F801487F-756A-47C3-9041-8E68B3A032BF}"/>
              </a:ext>
            </a:extLst>
          </p:cNvPr>
          <p:cNvSpPr>
            <a:spLocks xmlns:a="http://schemas.openxmlformats.org/drawingml/2006/main" noGrp="1"/>
          </p:cNvSpPr>
          <p:nvPr/>
        </p:nvSpPr>
        <p:spPr>
          <a:xfrm xmlns:a="http://schemas.openxmlformats.org/drawingml/2006/main">
            <a:off x="742950" y="2486025"/>
            <a:ext cx="3714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325" b="1">
                <a:solidFill>
                  <a:srgbClr val="10A37F"/>
                </a:solidFill>
                <a:latin typeface="DejaVu Sans"/>
                <a:ea typeface="DejaVu Sans"/>
                <a:cs typeface="DejaVu Sans"/>
              </a:defRPr>
            </a:pPr>
            <a:r>
              <a:rPr sz="2325" b="1">
                <a:solidFill>
                  <a:srgbClr val="10A37F"/>
                </a:solidFill>
                <a:latin typeface="DejaVu Sans"/>
                <a:ea typeface="DejaVu Sans"/>
                <a:cs typeface="DejaVu Sans"/>
              </a:rPr>
              <a:t>Site Doctor</a:t>
            </a:r>
          </a:p>
        </p:txBody>
      </p:sp>
      <p:sp>
        <p:nvSpPr>
          <p:cNvPr id="4" name="">
            <a:extLst xmlns:a="http://schemas.openxmlformats.org/drawingml/2006/main">
              <a:ext uri="{FF2B5EF4-FFF2-40B4-BE49-F238E27FC236}">
                <a16:creationId xmlns:a16="http://schemas.microsoft.com/office/drawing/2014/main" id="{100FF3AE-C5D7-412A-AA54-E4D57BF0C402}"/>
              </a:ext>
            </a:extLst>
          </p:cNvPr>
          <p:cNvSpPr>
            <a:spLocks xmlns:a="http://schemas.openxmlformats.org/drawingml/2006/main" noGrp="1"/>
          </p:cNvSpPr>
          <p:nvPr/>
        </p:nvSpPr>
        <p:spPr>
          <a:xfrm xmlns:a="http://schemas.openxmlformats.org/drawingml/2006/main">
            <a:off x="742950" y="3219450"/>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100" b="0">
                <a:solidFill>
                  <a:srgbClr val="4D4D49"/>
                </a:solidFill>
                <a:latin typeface="DejaVu Sans"/>
                <a:ea typeface="DejaVu Sans"/>
                <a:cs typeface="DejaVu Sans"/>
              </a:defRPr>
            </a:pPr>
            <a:r>
              <a:rPr sz="2100" b="0">
                <a:solidFill>
                  <a:srgbClr val="4D4D49"/>
                </a:solidFill>
                <a:latin typeface="DejaVu Sans"/>
                <a:ea typeface="DejaVu Sans"/>
                <a:cs typeface="DejaVu Sans"/>
              </a:rPr>
              <a:t>Your website can explain</a:t>
            </a:r>
          </a:p>
          <a:p xmlns:a="http://schemas.openxmlformats.org/drawingml/2006/main">
            <a:pPr algn="l">
              <a:defRPr sz="2100" b="0">
                <a:solidFill>
                  <a:srgbClr val="4D4D49"/>
                </a:solidFill>
                <a:latin typeface="DejaVu Sans"/>
                <a:ea typeface="DejaVu Sans"/>
                <a:cs typeface="DejaVu Sans"/>
              </a:defRPr>
            </a:pPr>
            <a:r>
              <a:rPr sz="2100" b="0">
                <a:solidFill>
                  <a:srgbClr val="4D4D49"/>
                </a:solidFill>
                <a:latin typeface="DejaVu Sans"/>
                <a:ea typeface="DejaVu Sans"/>
                <a:cs typeface="DejaVu Sans"/>
              </a:rPr>
              <a:t>what is wrong.</a:t>
            </a:r>
          </a:p>
        </p:txBody>
      </p:sp>
      <p:sp>
        <p:nvSpPr>
          <p:cNvPr id="5" name="">
            <a:extLst xmlns:a="http://schemas.openxmlformats.org/drawingml/2006/main">
              <a:ext uri="{FF2B5EF4-FFF2-40B4-BE49-F238E27FC236}">
                <a16:creationId xmlns:a16="http://schemas.microsoft.com/office/drawing/2014/main" id="{D06FA2FD-A83C-45A1-A637-D2F3A7241DF3}"/>
              </a:ext>
            </a:extLst>
          </p:cNvPr>
          <p:cNvSpPr>
            <a:spLocks xmlns:a="http://schemas.openxmlformats.org/drawingml/2006/main" noGrp="1"/>
          </p:cNvSpPr>
          <p:nvPr/>
        </p:nvSpPr>
        <p:spPr>
          <a:xfrm xmlns:a="http://schemas.openxmlformats.org/drawingml/2006/main">
            <a:off x="742950" y="466725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111111"/>
                </a:solidFill>
                <a:latin typeface="DejaVu Sans"/>
                <a:ea typeface="DejaVu Sans"/>
                <a:cs typeface="DejaVu Sans"/>
              </a:defRPr>
            </a:pPr>
            <a:r>
              <a:rPr sz="1275" b="1">
                <a:solidFill>
                  <a:srgbClr val="111111"/>
                </a:solidFill>
                <a:latin typeface="DejaVu Sans"/>
                <a:ea typeface="DejaVu Sans"/>
                <a:cs typeface="DejaVu Sans"/>
              </a:rPr>
              <a:t>Voice-first website support for small-business owners</a:t>
            </a:r>
          </a:p>
        </p:txBody>
      </p:sp>
      <p:sp>
        <p:nvSpPr>
          <p:cNvPr id="6" name="">
            <a:extLst xmlns:a="http://schemas.openxmlformats.org/drawingml/2006/main">
              <a:ext uri="{FF2B5EF4-FFF2-40B4-BE49-F238E27FC236}">
                <a16:creationId xmlns:a16="http://schemas.microsoft.com/office/drawing/2014/main" id="{29E9DEE6-0481-4CE5-8B5D-A7A62FE73CAE}"/>
              </a:ext>
            </a:extLst>
          </p:cNvPr>
          <p:cNvSpPr>
            <a:spLocks xmlns:a="http://schemas.openxmlformats.org/drawingml/2006/main" noGrp="1"/>
          </p:cNvSpPr>
          <p:nvPr/>
        </p:nvSpPr>
        <p:spPr>
          <a:xfrm xmlns:a="http://schemas.openxmlformats.org/drawingml/2006/main">
            <a:off x="742950" y="611505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900" b="0">
                <a:solidFill>
                  <a:srgbClr val="777772"/>
                </a:solidFill>
                <a:latin typeface="DejaVu Sans"/>
                <a:ea typeface="DejaVu Sans"/>
                <a:cs typeface="DejaVu Sans"/>
              </a:defRPr>
            </a:pPr>
            <a:r>
              <a:rPr sz="900" b="0">
                <a:solidFill>
                  <a:srgbClr val="777772"/>
                </a:solidFill>
                <a:latin typeface="DejaVu Sans"/>
                <a:ea typeface="DejaVu Sans"/>
                <a:cs typeface="DejaVu Sans"/>
              </a:rPr>
              <a:t>AI Tinkerers Hackathon  ·  Abu Dhabi</a:t>
            </a:r>
          </a:p>
        </p:txBody>
      </p:sp>
    </p:spTree>
    <p:extLst>
      <p:ext uri="{BB962C8B-B14F-4D97-AF65-F5344CB8AC3E}">
        <p14:creationId xmlns:p14="http://schemas.microsoft.com/office/powerpoint/2010/main" val="1541467170"/>
      </p:ext>
    </p:extLst>
  </p:cSld>
</p:sld>
</file>

<file path=ppt/slides/slide2.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3FFB560-3147-4631-9F7F-A37DDA3AD3FF}"/>
              </a:ext>
            </a:extLst>
          </p:cNvPr>
          <p:cNvSpPr>
            <a:spLocks xmlns:a="http://schemas.openxmlformats.org/drawingml/2006/main" noGrp="1"/>
          </p:cNvSpPr>
          <p:nvPr/>
        </p:nvSpPr>
        <p:spPr>
          <a:xfrm xmlns:a="http://schemas.openxmlformats.org/drawingml/2006/main">
            <a:off x="685800" y="438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111"/>
                </a:solidFill>
                <a:latin typeface="DejaVu Sans"/>
                <a:ea typeface="DejaVu Sans"/>
                <a:cs typeface="DejaVu Sans"/>
              </a:defRPr>
            </a:pPr>
            <a:r>
              <a:rPr sz="2550" b="1">
                <a:solidFill>
                  <a:srgbClr val="111111"/>
                </a:solidFill>
                <a:latin typeface="DejaVu Sans"/>
                <a:ea typeface="DejaVu Sans"/>
                <a:cs typeface="DejaVu Sans"/>
              </a:rPr>
              <a:t>A healthy-looking website can still lose every booking</a:t>
            </a:r>
          </a:p>
        </p:txBody>
      </p:sp>
      <p:sp>
        <p:nvSpPr>
          <p:cNvPr id="2" name="">
            <a:extLst xmlns:a="http://schemas.openxmlformats.org/drawingml/2006/main">
              <a:ext uri="{FF2B5EF4-FFF2-40B4-BE49-F238E27FC236}">
                <a16:creationId xmlns:a16="http://schemas.microsoft.com/office/drawing/2014/main" id="{53DEE3F4-22B7-472C-A1A9-B7019BE2A9CC}"/>
              </a:ext>
            </a:extLst>
          </p:cNvPr>
          <p:cNvSpPr>
            <a:spLocks xmlns:a="http://schemas.openxmlformats.org/drawingml/2006/main" noGrp="1"/>
          </p:cNvSpPr>
          <p:nvPr/>
        </p:nvSpPr>
        <p:spPr>
          <a:xfrm xmlns:a="http://schemas.openxmlformats.org/drawingml/2006/main">
            <a:off x="685800" y="1104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The customer sees no appointments. The owner sees no explanation.</a:t>
            </a:r>
          </a:p>
        </p:txBody>
      </p:sp>
      <p:sp>
        <p:nvSpPr>
          <p:cNvPr id="3" name="">
            <a:extLst xmlns:a="http://schemas.openxmlformats.org/drawingml/2006/main">
              <a:ext uri="{FF2B5EF4-FFF2-40B4-BE49-F238E27FC236}">
                <a16:creationId xmlns:a16="http://schemas.microsoft.com/office/drawing/2014/main" id="{2B712935-7BC2-4738-ACD1-23DF42A90494}"/>
              </a:ext>
            </a:extLst>
          </p:cNvPr>
          <p:cNvSpPr>
            <a:spLocks xmlns:a="http://schemas.openxmlformats.org/drawingml/2006/main" noGrp="1"/>
          </p:cNvSpPr>
          <p:nvPr/>
        </p:nvSpPr>
        <p:spPr>
          <a:xfrm xmlns:a="http://schemas.openxmlformats.org/drawingml/2006/main">
            <a:off x="685800" y="1524000"/>
            <a:ext cx="495300" cy="38100"/>
          </a:xfrm>
          <a:prstGeom xmlns:a="http://schemas.openxmlformats.org/drawingml/2006/main" prst="roundRect">
            <a:avLst>
              <a:gd name="adj" fmla="val 50000"/>
            </a:avLst>
          </a:prstGeom>
          <a:solidFill xmlns:a="http://schemas.openxmlformats.org/drawingml/2006/main">
            <a:srgbClr val="10A37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039039-6543-4408-AE69-C2860D112795}"/>
              </a:ext>
            </a:extLst>
          </p:cNvPr>
          <p:cNvSpPr>
            <a:spLocks xmlns:a="http://schemas.openxmlformats.org/drawingml/2006/main" noGrp="1"/>
          </p:cNvSpPr>
          <p:nvPr/>
        </p:nvSpPr>
        <p:spPr>
          <a:xfrm xmlns:a="http://schemas.openxmlformats.org/drawingml/2006/main">
            <a:off x="742950" y="1962150"/>
            <a:ext cx="2476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7500" b="1">
                <a:solidFill>
                  <a:srgbClr val="E85D4A"/>
                </a:solidFill>
                <a:latin typeface="DejaVu Sans"/>
                <a:ea typeface="DejaVu Sans"/>
                <a:cs typeface="DejaVu Sans"/>
              </a:defRPr>
            </a:pPr>
            <a:r>
              <a:rPr sz="7500" b="1">
                <a:solidFill>
                  <a:srgbClr val="E85D4A"/>
                </a:solidFill>
                <a:latin typeface="DejaVu Sans"/>
                <a:ea typeface="DejaVu Sans"/>
                <a:cs typeface="DejaVu Sans"/>
              </a:rPr>
              <a:t>0</a:t>
            </a:r>
          </a:p>
        </p:txBody>
      </p:sp>
      <p:sp>
        <p:nvSpPr>
          <p:cNvPr id="5" name="">
            <a:extLst xmlns:a="http://schemas.openxmlformats.org/drawingml/2006/main">
              <a:ext uri="{FF2B5EF4-FFF2-40B4-BE49-F238E27FC236}">
                <a16:creationId xmlns:a16="http://schemas.microsoft.com/office/drawing/2014/main" id="{736608D6-6921-4C69-94C4-569BD7859066}"/>
              </a:ext>
            </a:extLst>
          </p:cNvPr>
          <p:cNvSpPr>
            <a:spLocks xmlns:a="http://schemas.openxmlformats.org/drawingml/2006/main" noGrp="1"/>
          </p:cNvSpPr>
          <p:nvPr/>
        </p:nvSpPr>
        <p:spPr>
          <a:xfrm xmlns:a="http://schemas.openxmlformats.org/drawingml/2006/main">
            <a:off x="819150" y="31432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11111"/>
                </a:solidFill>
                <a:latin typeface="DejaVu Sans"/>
                <a:ea typeface="DejaVu Sans"/>
                <a:cs typeface="DejaVu Sans"/>
              </a:defRPr>
            </a:pPr>
            <a:r>
              <a:rPr sz="1800" b="1">
                <a:solidFill>
                  <a:srgbClr val="111111"/>
                </a:solidFill>
                <a:latin typeface="DejaVu Sans"/>
                <a:ea typeface="DejaVu Sans"/>
                <a:cs typeface="DejaVu Sans"/>
              </a:rPr>
              <a:t>available appointments</a:t>
            </a:r>
          </a:p>
        </p:txBody>
      </p:sp>
      <p:sp>
        <p:nvSpPr>
          <p:cNvPr id="6" name="">
            <a:extLst xmlns:a="http://schemas.openxmlformats.org/drawingml/2006/main">
              <a:ext uri="{FF2B5EF4-FFF2-40B4-BE49-F238E27FC236}">
                <a16:creationId xmlns:a16="http://schemas.microsoft.com/office/drawing/2014/main" id="{B5ACF509-AD9E-476D-A11A-10C425F54D6E}"/>
              </a:ext>
            </a:extLst>
          </p:cNvPr>
          <p:cNvSpPr>
            <a:spLocks xmlns:a="http://schemas.openxmlformats.org/drawingml/2006/main" noGrp="1"/>
          </p:cNvSpPr>
          <p:nvPr/>
        </p:nvSpPr>
        <p:spPr>
          <a:xfrm xmlns:a="http://schemas.openxmlformats.org/drawingml/2006/main">
            <a:off x="819150" y="3857625"/>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75" b="0">
                <a:solidFill>
                  <a:srgbClr val="4D4D49"/>
                </a:solidFill>
                <a:latin typeface="DejaVu Sans"/>
                <a:ea typeface="DejaVu Sans"/>
                <a:cs typeface="DejaVu Sans"/>
              </a:defRPr>
            </a:pPr>
            <a:r>
              <a:rPr sz="1575" b="0">
                <a:solidFill>
                  <a:srgbClr val="4D4D49"/>
                </a:solidFill>
                <a:latin typeface="DejaVu Sans"/>
                <a:ea typeface="DejaVu Sans"/>
                <a:cs typeface="DejaVu Sans"/>
              </a:rPr>
              <a:t>The page loads. The buttons work.</a:t>
            </a:r>
          </a:p>
          <a:p xmlns:a="http://schemas.openxmlformats.org/drawingml/2006/main">
            <a:pPr algn="l">
              <a:defRPr sz="1575" b="0">
                <a:solidFill>
                  <a:srgbClr val="4D4D49"/>
                </a:solidFill>
                <a:latin typeface="DejaVu Sans"/>
                <a:ea typeface="DejaVu Sans"/>
                <a:cs typeface="DejaVu Sans"/>
              </a:defRPr>
            </a:pPr>
            <a:r>
              <a:rPr sz="1575" b="0">
                <a:solidFill>
                  <a:srgbClr val="4D4D49"/>
                </a:solidFill>
                <a:latin typeface="DejaVu Sans"/>
                <a:ea typeface="DejaVu Sans"/>
                <a:cs typeface="DejaVu Sans"/>
              </a:rPr>
              <a:t>Customers still cannot complete the journey.</a:t>
            </a:r>
          </a:p>
        </p:txBody>
      </p:sp>
      <p:sp>
        <p:nvSpPr>
          <p:cNvPr id="7" name="">
            <a:extLst xmlns:a="http://schemas.openxmlformats.org/drawingml/2006/main">
              <a:ext uri="{FF2B5EF4-FFF2-40B4-BE49-F238E27FC236}">
                <a16:creationId xmlns:a16="http://schemas.microsoft.com/office/drawing/2014/main" id="{63B9A050-7782-4619-9089-4707EE6B0A62}"/>
              </a:ext>
            </a:extLst>
          </p:cNvPr>
          <p:cNvSpPr>
            <a:spLocks xmlns:a="http://schemas.openxmlformats.org/drawingml/2006/main" noGrp="1"/>
          </p:cNvSpPr>
          <p:nvPr/>
        </p:nvSpPr>
        <p:spPr>
          <a:xfrm xmlns:a="http://schemas.openxmlformats.org/drawingml/2006/main">
            <a:off x="819150" y="5200650"/>
            <a:ext cx="4143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defRPr sz="1500" b="1">
                <a:solidFill>
                  <a:srgbClr val="111111"/>
                </a:solidFill>
                <a:latin typeface="DejaVu Sans"/>
                <a:ea typeface="DejaVu Sans"/>
                <a:cs typeface="DejaVu Sans"/>
              </a:defRPr>
            </a:pPr>
            <a:r>
              <a:rPr sz="1500" b="1">
                <a:solidFill>
                  <a:srgbClr val="111111"/>
                </a:solidFill>
                <a:latin typeface="DejaVu Sans"/>
                <a:ea typeface="DejaVu Sans"/>
                <a:cs typeface="DejaVu Sans"/>
              </a:rPr>
              <a:t>A nontechnical owner has no idea where to start.</a:t>
            </a:r>
          </a:p>
        </p:txBody>
      </p:sp>
      <p:sp>
        <p:nvSpPr>
          <p:cNvPr id="8" name="">
            <a:extLst xmlns:a="http://schemas.openxmlformats.org/drawingml/2006/main">
              <a:ext uri="{FF2B5EF4-FFF2-40B4-BE49-F238E27FC236}">
                <a16:creationId xmlns:a16="http://schemas.microsoft.com/office/drawing/2014/main" id="{9D7AE26D-F170-4073-8690-BE7A2456B620}"/>
              </a:ext>
            </a:extLst>
          </p:cNvPr>
          <p:cNvSpPr>
            <a:spLocks xmlns:a="http://schemas.openxmlformats.org/drawingml/2006/main" noGrp="1"/>
          </p:cNvSpPr>
          <p:nvPr/>
        </p:nvSpPr>
        <p:spPr>
          <a:xfrm xmlns:a="http://schemas.openxmlformats.org/drawingml/2006/main">
            <a:off x="5810250" y="1866900"/>
            <a:ext cx="5524500" cy="3714750"/>
          </a:xfrm>
          <a:prstGeom xmlns:a="http://schemas.openxmlformats.org/drawingml/2006/main" prst="roundRect">
            <a:avLst>
              <a:gd name="adj" fmla="val 6154"/>
            </a:avLst>
          </a:prstGeom>
          <a:solidFill xmlns:a="http://schemas.openxmlformats.org/drawingml/2006/main">
            <a:srgbClr val="FFFFFF"/>
          </a:solidFill>
          <a:ln xmlns:a="http://schemas.openxmlformats.org/drawingml/2006/main" w="9525">
            <a:solidFill>
              <a:srgbClr val="D8D8D2"/>
            </a:solidFill>
          </a:ln>
        </p:spPr>
      </p:sp>
      <p:sp>
        <p:nvSpPr>
          <p:cNvPr id="9" name="">
            <a:extLst xmlns:a="http://schemas.openxmlformats.org/drawingml/2006/main">
              <a:ext uri="{FF2B5EF4-FFF2-40B4-BE49-F238E27FC236}">
                <a16:creationId xmlns:a16="http://schemas.microsoft.com/office/drawing/2014/main" id="{12B824B3-8625-4354-839C-2D4B0102A35A}"/>
              </a:ext>
            </a:extLst>
          </p:cNvPr>
          <p:cNvSpPr>
            <a:spLocks xmlns:a="http://schemas.openxmlformats.org/drawingml/2006/main" noGrp="1"/>
          </p:cNvSpPr>
          <p:nvPr/>
        </p:nvSpPr>
        <p:spPr>
          <a:xfrm xmlns:a="http://schemas.openxmlformats.org/drawingml/2006/main">
            <a:off x="6153150" y="215265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777772"/>
                </a:solidFill>
                <a:latin typeface="DejaVu Sans"/>
                <a:ea typeface="DejaVu Sans"/>
                <a:cs typeface="DejaVu Sans"/>
              </a:defRPr>
            </a:pPr>
            <a:r>
              <a:rPr sz="975" b="1">
                <a:solidFill>
                  <a:srgbClr val="777772"/>
                </a:solidFill>
                <a:latin typeface="DejaVu Sans"/>
                <a:ea typeface="DejaVu Sans"/>
                <a:cs typeface="DejaVu Sans"/>
              </a:rPr>
              <a:t>LUMA SALON</a:t>
            </a:r>
          </a:p>
        </p:txBody>
      </p:sp>
      <p:sp>
        <p:nvSpPr>
          <p:cNvPr id="10" name="">
            <a:extLst xmlns:a="http://schemas.openxmlformats.org/drawingml/2006/main">
              <a:ext uri="{FF2B5EF4-FFF2-40B4-BE49-F238E27FC236}">
                <a16:creationId xmlns:a16="http://schemas.microsoft.com/office/drawing/2014/main" id="{C255BCA1-D379-40A0-923B-34BA2280BA73}"/>
              </a:ext>
            </a:extLst>
          </p:cNvPr>
          <p:cNvSpPr>
            <a:spLocks xmlns:a="http://schemas.openxmlformats.org/drawingml/2006/main" noGrp="1"/>
          </p:cNvSpPr>
          <p:nvPr/>
        </p:nvSpPr>
        <p:spPr>
          <a:xfrm xmlns:a="http://schemas.openxmlformats.org/drawingml/2006/main">
            <a:off x="6153150" y="2562225"/>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103"/>
          </a:bodyPr>
          <a:lstStyle xmlns:a="http://schemas.openxmlformats.org/drawingml/2006/main"/>
          <a:p xmlns:a="http://schemas.openxmlformats.org/drawingml/2006/main">
            <a:pPr algn="l">
              <a:defRPr sz="2175" b="1">
                <a:solidFill>
                  <a:srgbClr val="111111"/>
                </a:solidFill>
                <a:latin typeface="DejaVu Sans"/>
                <a:ea typeface="DejaVu Sans"/>
                <a:cs typeface="DejaVu Sans"/>
              </a:defRPr>
            </a:pPr>
            <a:r>
              <a:rPr sz="2175" b="1">
                <a:solidFill>
                  <a:srgbClr val="111111"/>
                </a:solidFill>
                <a:latin typeface="DejaVu Sans"/>
                <a:ea typeface="DejaVu Sans"/>
                <a:cs typeface="DejaVu Sans"/>
              </a:rPr>
              <a:t>Book with Sara</a:t>
            </a:r>
          </a:p>
        </p:txBody>
      </p:sp>
      <p:sp>
        <p:nvSpPr>
          <p:cNvPr id="11" name="">
            <a:extLst xmlns:a="http://schemas.openxmlformats.org/drawingml/2006/main">
              <a:ext uri="{FF2B5EF4-FFF2-40B4-BE49-F238E27FC236}">
                <a16:creationId xmlns:a16="http://schemas.microsoft.com/office/drawing/2014/main" id="{9EA70C6E-46EF-4D1E-B118-EE3A70A37E9B}"/>
              </a:ext>
            </a:extLst>
          </p:cNvPr>
          <p:cNvSpPr>
            <a:spLocks xmlns:a="http://schemas.openxmlformats.org/drawingml/2006/main" noGrp="1"/>
          </p:cNvSpPr>
          <p:nvPr/>
        </p:nvSpPr>
        <p:spPr>
          <a:xfrm xmlns:a="http://schemas.openxmlformats.org/drawingml/2006/main">
            <a:off x="6153150" y="3171825"/>
            <a:ext cx="4762500" cy="666750"/>
          </a:xfrm>
          <a:prstGeom xmlns:a="http://schemas.openxmlformats.org/drawingml/2006/main" prst="roundRect">
            <a:avLst>
              <a:gd name="adj" fmla="val 20000"/>
            </a:avLst>
          </a:prstGeom>
          <a:solidFill xmlns:a="http://schemas.openxmlformats.org/drawingml/2006/main">
            <a:srgbClr val="EEE9E1"/>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EB80609-6EE6-4D2D-AE2B-A81BE23F760F}"/>
              </a:ext>
            </a:extLst>
          </p:cNvPr>
          <p:cNvSpPr>
            <a:spLocks xmlns:a="http://schemas.openxmlformats.org/drawingml/2006/main" noGrp="1"/>
          </p:cNvSpPr>
          <p:nvPr/>
        </p:nvSpPr>
        <p:spPr>
          <a:xfrm xmlns:a="http://schemas.openxmlformats.org/drawingml/2006/main">
            <a:off x="6381750" y="3371850"/>
            <a:ext cx="4333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lgn="l">
              <a:defRPr sz="1350" b="0">
                <a:solidFill>
                  <a:srgbClr val="4D4D49"/>
                </a:solidFill>
                <a:latin typeface="DejaVu Sans"/>
                <a:ea typeface="DejaVu Sans"/>
                <a:cs typeface="DejaVu Sans"/>
              </a:defRPr>
            </a:pPr>
            <a:r>
              <a:rPr sz="1350" b="0">
                <a:solidFill>
                  <a:srgbClr val="4D4D49"/>
                </a:solidFill>
                <a:latin typeface="DejaVu Sans"/>
                <a:ea typeface="DejaVu Sans"/>
                <a:cs typeface="DejaVu Sans"/>
              </a:rPr>
              <a:t>Haircut   ·   45 minutes</a:t>
            </a:r>
          </a:p>
        </p:txBody>
      </p:sp>
      <p:sp>
        <p:nvSpPr>
          <p:cNvPr id="13" name="">
            <a:extLst xmlns:a="http://schemas.openxmlformats.org/drawingml/2006/main">
              <a:ext uri="{FF2B5EF4-FFF2-40B4-BE49-F238E27FC236}">
                <a16:creationId xmlns:a16="http://schemas.microsoft.com/office/drawing/2014/main" id="{CE4837F7-6698-4FE2-99CE-D5C60087B233}"/>
              </a:ext>
            </a:extLst>
          </p:cNvPr>
          <p:cNvSpPr>
            <a:spLocks xmlns:a="http://schemas.openxmlformats.org/drawingml/2006/main" noGrp="1"/>
          </p:cNvSpPr>
          <p:nvPr/>
        </p:nvSpPr>
        <p:spPr>
          <a:xfrm xmlns:a="http://schemas.openxmlformats.org/drawingml/2006/main">
            <a:off x="6153150" y="4086225"/>
            <a:ext cx="4762500" cy="838200"/>
          </a:xfrm>
          <a:prstGeom xmlns:a="http://schemas.openxmlformats.org/drawingml/2006/main" prst="roundRect">
            <a:avLst>
              <a:gd name="adj" fmla="val 15909"/>
            </a:avLst>
          </a:prstGeom>
          <a:solidFill xmlns:a="http://schemas.openxmlformats.org/drawingml/2006/main">
            <a:srgbClr val="FBE5E0"/>
          </a:solidFill>
          <a:ln xmlns:a="http://schemas.openxmlformats.org/drawingml/2006/main" w="9525">
            <a:solidFill>
              <a:srgbClr val="E85D4A"/>
            </a:solidFill>
          </a:ln>
        </p:spPr>
      </p:sp>
      <p:sp>
        <p:nvSpPr>
          <p:cNvPr id="14" name="">
            <a:extLst xmlns:a="http://schemas.openxmlformats.org/drawingml/2006/main">
              <a:ext uri="{FF2B5EF4-FFF2-40B4-BE49-F238E27FC236}">
                <a16:creationId xmlns:a16="http://schemas.microsoft.com/office/drawing/2014/main" id="{B3460CBA-8AA6-4D75-83AB-DE5E1C27BBC5}"/>
              </a:ext>
            </a:extLst>
          </p:cNvPr>
          <p:cNvSpPr>
            <a:spLocks xmlns:a="http://schemas.openxmlformats.org/drawingml/2006/main" noGrp="1"/>
          </p:cNvSpPr>
          <p:nvPr/>
        </p:nvSpPr>
        <p:spPr>
          <a:xfrm xmlns:a="http://schemas.openxmlformats.org/drawingml/2006/main">
            <a:off x="6410325" y="431482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48"/>
          </a:bodyPr>
          <a:lstStyle xmlns:a="http://schemas.openxmlformats.org/drawingml/2006/main"/>
          <a:p xmlns:a="http://schemas.openxmlformats.org/drawingml/2006/main">
            <a:pPr algn="ctr">
              <a:defRPr sz="1650" b="1">
                <a:solidFill>
                  <a:srgbClr val="E85D4A"/>
                </a:solidFill>
                <a:latin typeface="DejaVu Sans"/>
                <a:ea typeface="DejaVu Sans"/>
                <a:cs typeface="DejaVu Sans"/>
              </a:defRPr>
            </a:pPr>
            <a:r>
              <a:rPr sz="1650" b="1">
                <a:solidFill>
                  <a:srgbClr val="E85D4A"/>
                </a:solidFill>
                <a:latin typeface="DejaVu Sans"/>
                <a:ea typeface="DejaVu Sans"/>
                <a:cs typeface="DejaVu Sans"/>
              </a:rPr>
              <a:t>No appointments available</a:t>
            </a:r>
          </a:p>
        </p:txBody>
      </p:sp>
      <p:sp>
        <p:nvSpPr>
          <p:cNvPr id="15" name="">
            <a:extLst xmlns:a="http://schemas.openxmlformats.org/drawingml/2006/main">
              <a:ext uri="{FF2B5EF4-FFF2-40B4-BE49-F238E27FC236}">
                <a16:creationId xmlns:a16="http://schemas.microsoft.com/office/drawing/2014/main" id="{1B50E7AC-5646-4CF7-83C3-6A8A6272D820}"/>
              </a:ext>
            </a:extLst>
          </p:cNvPr>
          <p:cNvSpPr>
            <a:spLocks xmlns:a="http://schemas.openxmlformats.org/drawingml/2006/main" noGrp="1"/>
          </p:cNvSpPr>
          <p:nvPr/>
        </p:nvSpPr>
        <p:spPr>
          <a:xfrm xmlns:a="http://schemas.openxmlformats.org/drawingml/2006/main">
            <a:off x="6153150" y="514350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0">
                <a:solidFill>
                  <a:srgbClr val="777772"/>
                </a:solidFill>
                <a:latin typeface="DejaVu Sans"/>
                <a:ea typeface="DejaVu Sans"/>
                <a:cs typeface="DejaVu Sans"/>
              </a:defRPr>
            </a:pPr>
            <a:r>
              <a:rPr sz="1275" b="0">
                <a:solidFill>
                  <a:srgbClr val="777772"/>
                </a:solidFill>
                <a:latin typeface="DejaVu Sans"/>
                <a:ea typeface="DejaVu Sans"/>
                <a:cs typeface="DejaVu Sans"/>
              </a:rPr>
              <a:t>Nothing tells the owner why.</a:t>
            </a:r>
          </a:p>
        </p:txBody>
      </p:sp>
      <p:sp>
        <p:nvSpPr>
          <p:cNvPr id="16" name="">
            <a:extLst xmlns:a="http://schemas.openxmlformats.org/drawingml/2006/main">
              <a:ext uri="{FF2B5EF4-FFF2-40B4-BE49-F238E27FC236}">
                <a16:creationId xmlns:a16="http://schemas.microsoft.com/office/drawing/2014/main" id="{4F3D649A-3CA8-4FD6-ABCE-EC636E33E3FD}"/>
              </a:ext>
            </a:extLst>
          </p:cNvPr>
          <p:cNvSpPr>
            <a:spLocks xmlns:a="http://schemas.openxmlformats.org/drawingml/2006/main" noGrp="1"/>
          </p:cNvSpPr>
          <p:nvPr/>
        </p:nvSpPr>
        <p:spPr>
          <a:xfrm xmlns:a="http://schemas.openxmlformats.org/drawingml/2006/main">
            <a:off x="685800" y="64579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67"/>
          </a:bodyPr>
          <a:lstStyle xmlns:a="http://schemas.openxmlformats.org/drawingml/2006/main"/>
          <a:p xmlns:a="http://schemas.openxmlformats.org/drawingml/2006/main">
            <a:pPr algn="l">
              <a:defRPr sz="750" b="0">
                <a:solidFill>
                  <a:srgbClr val="777772"/>
                </a:solidFill>
                <a:latin typeface="DejaVu Sans"/>
                <a:ea typeface="DejaVu Sans"/>
                <a:cs typeface="DejaVu Sans"/>
              </a:defRPr>
            </a:pPr>
            <a:r>
              <a:rPr sz="750" b="0">
                <a:solidFill>
                  <a:srgbClr val="777772"/>
                </a:solidFill>
                <a:latin typeface="DejaVu Sans"/>
                <a:ea typeface="DejaVu Sans"/>
                <a:cs typeface="DejaVu Sans"/>
              </a:rPr>
              <a:t>JustAsk   02</a:t>
            </a:r>
          </a:p>
        </p:txBody>
      </p:sp>
    </p:spTree>
    <p:extLst>
      <p:ext uri="{BB962C8B-B14F-4D97-AF65-F5344CB8AC3E}">
        <p14:creationId xmlns:p14="http://schemas.microsoft.com/office/powerpoint/2010/main" val="51945260"/>
      </p:ext>
    </p:extLst>
  </p:cSld>
</p:sld>
</file>

<file path=ppt/slides/slide3.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EC1775E-1CC3-427A-8D88-2A85CC3DF988}"/>
              </a:ext>
            </a:extLst>
          </p:cNvPr>
          <p:cNvSpPr>
            <a:spLocks xmlns:a="http://schemas.openxmlformats.org/drawingml/2006/main" noGrp="1"/>
          </p:cNvSpPr>
          <p:nvPr/>
        </p:nvSpPr>
        <p:spPr>
          <a:xfrm xmlns:a="http://schemas.openxmlformats.org/drawingml/2006/main">
            <a:off x="685800" y="438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111"/>
                </a:solidFill>
                <a:latin typeface="DejaVu Sans"/>
                <a:ea typeface="DejaVu Sans"/>
                <a:cs typeface="DejaVu Sans"/>
              </a:defRPr>
            </a:pPr>
            <a:r>
              <a:rPr sz="2550" b="1">
                <a:solidFill>
                  <a:srgbClr val="111111"/>
                </a:solidFill>
                <a:latin typeface="DejaVu Sans"/>
                <a:ea typeface="DejaVu Sans"/>
                <a:cs typeface="DejaVu Sans"/>
              </a:rPr>
              <a:t>WordPress gives JustAsk a 37 million-site starting market</a:t>
            </a:r>
          </a:p>
        </p:txBody>
      </p:sp>
      <p:sp>
        <p:nvSpPr>
          <p:cNvPr id="2" name="">
            <a:extLst xmlns:a="http://schemas.openxmlformats.org/drawingml/2006/main">
              <a:ext uri="{FF2B5EF4-FFF2-40B4-BE49-F238E27FC236}">
                <a16:creationId xmlns:a16="http://schemas.microsoft.com/office/drawing/2014/main" id="{93D0C34D-8A0A-474D-B23E-CF10C5A4C2BD}"/>
              </a:ext>
            </a:extLst>
          </p:cNvPr>
          <p:cNvSpPr>
            <a:spLocks xmlns:a="http://schemas.openxmlformats.org/drawingml/2006/main" noGrp="1"/>
          </p:cNvSpPr>
          <p:nvPr/>
        </p:nvSpPr>
        <p:spPr>
          <a:xfrm xmlns:a="http://schemas.openxmlformats.org/drawingml/2006/main">
            <a:off x="685800" y="1104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One integration can reach a large share of the web.</a:t>
            </a:r>
          </a:p>
        </p:txBody>
      </p:sp>
      <p:sp>
        <p:nvSpPr>
          <p:cNvPr id="3" name="">
            <a:extLst xmlns:a="http://schemas.openxmlformats.org/drawingml/2006/main">
              <a:ext uri="{FF2B5EF4-FFF2-40B4-BE49-F238E27FC236}">
                <a16:creationId xmlns:a16="http://schemas.microsoft.com/office/drawing/2014/main" id="{B4D84D8D-1650-42C6-9372-59395C8CD178}"/>
              </a:ext>
            </a:extLst>
          </p:cNvPr>
          <p:cNvSpPr>
            <a:spLocks xmlns:a="http://schemas.openxmlformats.org/drawingml/2006/main" noGrp="1"/>
          </p:cNvSpPr>
          <p:nvPr/>
        </p:nvSpPr>
        <p:spPr>
          <a:xfrm xmlns:a="http://schemas.openxmlformats.org/drawingml/2006/main">
            <a:off x="685800" y="1524000"/>
            <a:ext cx="495300" cy="38100"/>
          </a:xfrm>
          <a:prstGeom xmlns:a="http://schemas.openxmlformats.org/drawingml/2006/main" prst="roundRect">
            <a:avLst>
              <a:gd name="adj" fmla="val 50000"/>
            </a:avLst>
          </a:prstGeom>
          <a:solidFill xmlns:a="http://schemas.openxmlformats.org/drawingml/2006/main">
            <a:srgbClr val="10A37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0247A5-4A90-4C4E-BE62-3B7A2D104A9E}"/>
              </a:ext>
            </a:extLst>
          </p:cNvPr>
          <p:cNvSpPr>
            <a:spLocks xmlns:a="http://schemas.openxmlformats.org/drawingml/2006/main" noGrp="1"/>
          </p:cNvSpPr>
          <p:nvPr/>
        </p:nvSpPr>
        <p:spPr>
          <a:xfrm xmlns:a="http://schemas.openxmlformats.org/drawingml/2006/main">
            <a:off x="723900" y="1952625"/>
            <a:ext cx="3314700" cy="2667000"/>
          </a:xfrm>
          <a:prstGeom xmlns:a="http://schemas.openxmlformats.org/drawingml/2006/main" prst="roundRect">
            <a:avLst>
              <a:gd name="adj" fmla="val 7857"/>
            </a:avLst>
          </a:prstGeom>
          <a:solidFill xmlns:a="http://schemas.openxmlformats.org/drawingml/2006/main">
            <a:srgbClr val="DDF4EC"/>
          </a:solidFill>
          <a:ln xmlns:a="http://schemas.openxmlformats.org/drawingml/2006/main" w="9525">
            <a:solidFill>
              <a:srgbClr val="10A37F"/>
            </a:solidFill>
          </a:ln>
        </p:spPr>
      </p:sp>
      <p:sp>
        <p:nvSpPr>
          <p:cNvPr id="5" name="">
            <a:extLst xmlns:a="http://schemas.openxmlformats.org/drawingml/2006/main">
              <a:ext uri="{FF2B5EF4-FFF2-40B4-BE49-F238E27FC236}">
                <a16:creationId xmlns:a16="http://schemas.microsoft.com/office/drawing/2014/main" id="{79810646-F11C-4D77-84EA-B9D996D0971C}"/>
              </a:ext>
            </a:extLst>
          </p:cNvPr>
          <p:cNvSpPr>
            <a:spLocks xmlns:a="http://schemas.openxmlformats.org/drawingml/2006/main" noGrp="1"/>
          </p:cNvSpPr>
          <p:nvPr/>
        </p:nvSpPr>
        <p:spPr>
          <a:xfrm xmlns:a="http://schemas.openxmlformats.org/drawingml/2006/main">
            <a:off x="1028700" y="2371725"/>
            <a:ext cx="2724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025" b="1">
                <a:solidFill>
                  <a:srgbClr val="087A60"/>
                </a:solidFill>
                <a:latin typeface="DejaVu Sans"/>
                <a:ea typeface="DejaVu Sans"/>
                <a:cs typeface="DejaVu Sans"/>
              </a:defRPr>
            </a:pPr>
            <a:r>
              <a:rPr sz="5025" b="1">
                <a:solidFill>
                  <a:srgbClr val="087A60"/>
                </a:solidFill>
                <a:latin typeface="DejaVu Sans"/>
                <a:ea typeface="DejaVu Sans"/>
                <a:cs typeface="DejaVu Sans"/>
              </a:rPr>
              <a:t>40.3%</a:t>
            </a:r>
          </a:p>
        </p:txBody>
      </p:sp>
      <p:sp>
        <p:nvSpPr>
          <p:cNvPr id="6" name="">
            <a:extLst xmlns:a="http://schemas.openxmlformats.org/drawingml/2006/main">
              <a:ext uri="{FF2B5EF4-FFF2-40B4-BE49-F238E27FC236}">
                <a16:creationId xmlns:a16="http://schemas.microsoft.com/office/drawing/2014/main" id="{37A5D85C-3C75-481E-9481-C0A26FC68878}"/>
              </a:ext>
            </a:extLst>
          </p:cNvPr>
          <p:cNvSpPr>
            <a:spLocks xmlns:a="http://schemas.openxmlformats.org/drawingml/2006/main" noGrp="1"/>
          </p:cNvSpPr>
          <p:nvPr/>
        </p:nvSpPr>
        <p:spPr>
          <a:xfrm xmlns:a="http://schemas.openxmlformats.org/drawingml/2006/main">
            <a:off x="1057275" y="3381375"/>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11111"/>
                </a:solidFill>
                <a:latin typeface="DejaVu Sans"/>
                <a:ea typeface="DejaVu Sans"/>
                <a:cs typeface="DejaVu Sans"/>
              </a:defRPr>
            </a:pPr>
            <a:r>
              <a:rPr sz="1575" b="1">
                <a:solidFill>
                  <a:srgbClr val="111111"/>
                </a:solidFill>
                <a:latin typeface="DejaVu Sans"/>
                <a:ea typeface="DejaVu Sans"/>
                <a:cs typeface="DejaVu Sans"/>
              </a:rPr>
              <a:t>of all websites use WordPress</a:t>
            </a:r>
          </a:p>
        </p:txBody>
      </p:sp>
      <p:sp>
        <p:nvSpPr>
          <p:cNvPr id="7" name="">
            <a:extLst xmlns:a="http://schemas.openxmlformats.org/drawingml/2006/main">
              <a:ext uri="{FF2B5EF4-FFF2-40B4-BE49-F238E27FC236}">
                <a16:creationId xmlns:a16="http://schemas.microsoft.com/office/drawing/2014/main" id="{FBC964C7-2E38-41FA-A13F-C98F281F37F8}"/>
              </a:ext>
            </a:extLst>
          </p:cNvPr>
          <p:cNvSpPr>
            <a:spLocks xmlns:a="http://schemas.openxmlformats.org/drawingml/2006/main" noGrp="1"/>
          </p:cNvSpPr>
          <p:nvPr/>
        </p:nvSpPr>
        <p:spPr>
          <a:xfrm xmlns:a="http://schemas.openxmlformats.org/drawingml/2006/main">
            <a:off x="1057275" y="41433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ctr">
              <a:defRPr sz="975" b="0">
                <a:solidFill>
                  <a:srgbClr val="777772"/>
                </a:solidFill>
                <a:latin typeface="DejaVu Sans"/>
                <a:ea typeface="DejaVu Sans"/>
                <a:cs typeface="DejaVu Sans"/>
              </a:defRPr>
            </a:pPr>
            <a:r>
              <a:rPr sz="975" b="0">
                <a:solidFill>
                  <a:srgbClr val="777772"/>
                </a:solidFill>
                <a:latin typeface="DejaVu Sans"/>
                <a:ea typeface="DejaVu Sans"/>
                <a:cs typeface="DejaVu Sans"/>
              </a:rPr>
              <a:t>W3Techs</a:t>
            </a:r>
          </a:p>
        </p:txBody>
      </p:sp>
      <p:sp>
        <p:nvSpPr>
          <p:cNvPr id="8" name="">
            <a:extLst xmlns:a="http://schemas.openxmlformats.org/drawingml/2006/main">
              <a:ext uri="{FF2B5EF4-FFF2-40B4-BE49-F238E27FC236}">
                <a16:creationId xmlns:a16="http://schemas.microsoft.com/office/drawing/2014/main" id="{3A00CF35-91D3-45D7-856C-CF04C711F526}"/>
              </a:ext>
            </a:extLst>
          </p:cNvPr>
          <p:cNvSpPr>
            <a:spLocks xmlns:a="http://schemas.openxmlformats.org/drawingml/2006/main" noGrp="1"/>
          </p:cNvSpPr>
          <p:nvPr/>
        </p:nvSpPr>
        <p:spPr>
          <a:xfrm xmlns:a="http://schemas.openxmlformats.org/drawingml/2006/main">
            <a:off x="4438650" y="1952625"/>
            <a:ext cx="3314700" cy="26670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9525">
            <a:solidFill>
              <a:srgbClr val="D8D8D2"/>
            </a:solidFill>
          </a:ln>
        </p:spPr>
      </p:sp>
      <p:sp>
        <p:nvSpPr>
          <p:cNvPr id="9" name="">
            <a:extLst xmlns:a="http://schemas.openxmlformats.org/drawingml/2006/main">
              <a:ext uri="{FF2B5EF4-FFF2-40B4-BE49-F238E27FC236}">
                <a16:creationId xmlns:a16="http://schemas.microsoft.com/office/drawing/2014/main" id="{21D0E369-00A1-4258-9B19-502CFD936AAA}"/>
              </a:ext>
            </a:extLst>
          </p:cNvPr>
          <p:cNvSpPr>
            <a:spLocks xmlns:a="http://schemas.openxmlformats.org/drawingml/2006/main" noGrp="1"/>
          </p:cNvSpPr>
          <p:nvPr/>
        </p:nvSpPr>
        <p:spPr>
          <a:xfrm xmlns:a="http://schemas.openxmlformats.org/drawingml/2006/main">
            <a:off x="4743450" y="2371725"/>
            <a:ext cx="2724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4575" b="1">
                <a:solidFill>
                  <a:srgbClr val="111111"/>
                </a:solidFill>
                <a:latin typeface="DejaVu Sans"/>
                <a:ea typeface="DejaVu Sans"/>
                <a:cs typeface="DejaVu Sans"/>
              </a:defRPr>
            </a:pPr>
            <a:r>
              <a:rPr sz="4575" b="1">
                <a:solidFill>
                  <a:srgbClr val="111111"/>
                </a:solidFill>
                <a:latin typeface="DejaVu Sans"/>
                <a:ea typeface="DejaVu Sans"/>
                <a:cs typeface="DejaVu Sans"/>
              </a:rPr>
              <a:t>37.26M</a:t>
            </a:r>
          </a:p>
        </p:txBody>
      </p:sp>
      <p:sp>
        <p:nvSpPr>
          <p:cNvPr id="10" name="">
            <a:extLst xmlns:a="http://schemas.openxmlformats.org/drawingml/2006/main">
              <a:ext uri="{FF2B5EF4-FFF2-40B4-BE49-F238E27FC236}">
                <a16:creationId xmlns:a16="http://schemas.microsoft.com/office/drawing/2014/main" id="{D081A2A0-4AA2-4CCE-89A0-8539E4290A0F}"/>
              </a:ext>
            </a:extLst>
          </p:cNvPr>
          <p:cNvSpPr>
            <a:spLocks xmlns:a="http://schemas.openxmlformats.org/drawingml/2006/main" noGrp="1"/>
          </p:cNvSpPr>
          <p:nvPr/>
        </p:nvSpPr>
        <p:spPr>
          <a:xfrm xmlns:a="http://schemas.openxmlformats.org/drawingml/2006/main">
            <a:off x="4772025" y="3381375"/>
            <a:ext cx="266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11111"/>
                </a:solidFill>
                <a:latin typeface="DejaVu Sans"/>
                <a:ea typeface="DejaVu Sans"/>
                <a:cs typeface="DejaVu Sans"/>
              </a:defRPr>
            </a:pPr>
            <a:r>
              <a:rPr sz="1575" b="1">
                <a:solidFill>
                  <a:srgbClr val="111111"/>
                </a:solidFill>
                <a:latin typeface="DejaVu Sans"/>
                <a:ea typeface="DejaVu Sans"/>
                <a:cs typeface="DejaVu Sans"/>
              </a:rPr>
              <a:t>live WordPress sites detected</a:t>
            </a:r>
          </a:p>
        </p:txBody>
      </p:sp>
      <p:sp>
        <p:nvSpPr>
          <p:cNvPr id="11" name="">
            <a:extLst xmlns:a="http://schemas.openxmlformats.org/drawingml/2006/main">
              <a:ext uri="{FF2B5EF4-FFF2-40B4-BE49-F238E27FC236}">
                <a16:creationId xmlns:a16="http://schemas.microsoft.com/office/drawing/2014/main" id="{D7955CC1-5CCD-4A5C-96CB-2B0BFB1B3D44}"/>
              </a:ext>
            </a:extLst>
          </p:cNvPr>
          <p:cNvSpPr>
            <a:spLocks xmlns:a="http://schemas.openxmlformats.org/drawingml/2006/main" noGrp="1"/>
          </p:cNvSpPr>
          <p:nvPr/>
        </p:nvSpPr>
        <p:spPr>
          <a:xfrm xmlns:a="http://schemas.openxmlformats.org/drawingml/2006/main">
            <a:off x="4772025" y="41433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ctr">
              <a:defRPr sz="975" b="0">
                <a:solidFill>
                  <a:srgbClr val="777772"/>
                </a:solidFill>
                <a:latin typeface="DejaVu Sans"/>
                <a:ea typeface="DejaVu Sans"/>
                <a:cs typeface="DejaVu Sans"/>
              </a:defRPr>
            </a:pPr>
            <a:r>
              <a:rPr sz="975" b="0">
                <a:solidFill>
                  <a:srgbClr val="777772"/>
                </a:solidFill>
                <a:latin typeface="DejaVu Sans"/>
                <a:ea typeface="DejaVu Sans"/>
                <a:cs typeface="DejaVu Sans"/>
              </a:rPr>
              <a:t>BuiltWith</a:t>
            </a:r>
          </a:p>
        </p:txBody>
      </p:sp>
      <p:sp>
        <p:nvSpPr>
          <p:cNvPr id="12" name="">
            <a:extLst xmlns:a="http://schemas.openxmlformats.org/drawingml/2006/main">
              <a:ext uri="{FF2B5EF4-FFF2-40B4-BE49-F238E27FC236}">
                <a16:creationId xmlns:a16="http://schemas.microsoft.com/office/drawing/2014/main" id="{6C8A7127-D963-4BE5-97B9-4849F08DBCDE}"/>
              </a:ext>
            </a:extLst>
          </p:cNvPr>
          <p:cNvSpPr>
            <a:spLocks xmlns:a="http://schemas.openxmlformats.org/drawingml/2006/main" noGrp="1"/>
          </p:cNvSpPr>
          <p:nvPr/>
        </p:nvSpPr>
        <p:spPr>
          <a:xfrm xmlns:a="http://schemas.openxmlformats.org/drawingml/2006/main">
            <a:off x="8153400" y="1952625"/>
            <a:ext cx="3314700" cy="2667000"/>
          </a:xfrm>
          <a:prstGeom xmlns:a="http://schemas.openxmlformats.org/drawingml/2006/main" prst="roundRect">
            <a:avLst>
              <a:gd name="adj" fmla="val 7857"/>
            </a:avLst>
          </a:prstGeom>
          <a:solidFill xmlns:a="http://schemas.openxmlformats.org/drawingml/2006/main">
            <a:srgbClr val="F6E9BD"/>
          </a:solidFill>
          <a:ln xmlns:a="http://schemas.openxmlformats.org/drawingml/2006/main" w="9525">
            <a:solidFill>
              <a:srgbClr val="D8D8D2"/>
            </a:solidFill>
          </a:ln>
        </p:spPr>
      </p:sp>
      <p:sp>
        <p:nvSpPr>
          <p:cNvPr id="13" name="">
            <a:extLst xmlns:a="http://schemas.openxmlformats.org/drawingml/2006/main">
              <a:ext uri="{FF2B5EF4-FFF2-40B4-BE49-F238E27FC236}">
                <a16:creationId xmlns:a16="http://schemas.microsoft.com/office/drawing/2014/main" id="{A693CEA8-727F-4FA9-ABA9-EF352708B1AA}"/>
              </a:ext>
            </a:extLst>
          </p:cNvPr>
          <p:cNvSpPr>
            <a:spLocks xmlns:a="http://schemas.openxmlformats.org/drawingml/2006/main" noGrp="1"/>
          </p:cNvSpPr>
          <p:nvPr/>
        </p:nvSpPr>
        <p:spPr>
          <a:xfrm xmlns:a="http://schemas.openxmlformats.org/drawingml/2006/main">
            <a:off x="8458200" y="2371725"/>
            <a:ext cx="2724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025" b="1">
                <a:solidFill>
                  <a:srgbClr val="111111"/>
                </a:solidFill>
                <a:latin typeface="DejaVu Sans"/>
                <a:ea typeface="DejaVu Sans"/>
                <a:cs typeface="DejaVu Sans"/>
              </a:defRPr>
            </a:pPr>
            <a:r>
              <a:rPr sz="5025" b="1">
                <a:solidFill>
                  <a:srgbClr val="111111"/>
                </a:solidFill>
                <a:latin typeface="DejaVu Sans"/>
                <a:ea typeface="DejaVu Sans"/>
                <a:cs typeface="DejaVu Sans"/>
              </a:rPr>
              <a:t>19.8%</a:t>
            </a:r>
          </a:p>
        </p:txBody>
      </p:sp>
      <p:sp>
        <p:nvSpPr>
          <p:cNvPr id="14" name="">
            <a:extLst xmlns:a="http://schemas.openxmlformats.org/drawingml/2006/main">
              <a:ext uri="{FF2B5EF4-FFF2-40B4-BE49-F238E27FC236}">
                <a16:creationId xmlns:a16="http://schemas.microsoft.com/office/drawing/2014/main" id="{6F1E8B02-C3A8-40F2-AB7B-370963A87A7F}"/>
              </a:ext>
            </a:extLst>
          </p:cNvPr>
          <p:cNvSpPr>
            <a:spLocks xmlns:a="http://schemas.openxmlformats.org/drawingml/2006/main" noGrp="1"/>
          </p:cNvSpPr>
          <p:nvPr/>
        </p:nvSpPr>
        <p:spPr>
          <a:xfrm xmlns:a="http://schemas.openxmlformats.org/drawingml/2006/main">
            <a:off x="8486775" y="3314700"/>
            <a:ext cx="266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00" b="1">
                <a:solidFill>
                  <a:srgbClr val="111111"/>
                </a:solidFill>
                <a:latin typeface="DejaVu Sans"/>
                <a:ea typeface="DejaVu Sans"/>
                <a:cs typeface="DejaVu Sans"/>
              </a:defRPr>
            </a:pPr>
            <a:r>
              <a:rPr sz="1500" b="1">
                <a:solidFill>
                  <a:srgbClr val="111111"/>
                </a:solidFill>
                <a:latin typeface="DejaVu Sans"/>
                <a:ea typeface="DejaVu Sans"/>
                <a:cs typeface="DejaVu Sans"/>
              </a:rPr>
              <a:t>of WordPress sites use WooCommerce</a:t>
            </a:r>
          </a:p>
        </p:txBody>
      </p:sp>
      <p:sp>
        <p:nvSpPr>
          <p:cNvPr id="15" name="">
            <a:extLst xmlns:a="http://schemas.openxmlformats.org/drawingml/2006/main">
              <a:ext uri="{FF2B5EF4-FFF2-40B4-BE49-F238E27FC236}">
                <a16:creationId xmlns:a16="http://schemas.microsoft.com/office/drawing/2014/main" id="{6402653E-C4FB-4522-8208-7F6A47874BC2}"/>
              </a:ext>
            </a:extLst>
          </p:cNvPr>
          <p:cNvSpPr>
            <a:spLocks xmlns:a="http://schemas.openxmlformats.org/drawingml/2006/main" noGrp="1"/>
          </p:cNvSpPr>
          <p:nvPr/>
        </p:nvSpPr>
        <p:spPr>
          <a:xfrm xmlns:a="http://schemas.openxmlformats.org/drawingml/2006/main">
            <a:off x="8486775" y="4143375"/>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ctr">
              <a:defRPr sz="975" b="0">
                <a:solidFill>
                  <a:srgbClr val="777772"/>
                </a:solidFill>
                <a:latin typeface="DejaVu Sans"/>
                <a:ea typeface="DejaVu Sans"/>
                <a:cs typeface="DejaVu Sans"/>
              </a:defRPr>
            </a:pPr>
            <a:r>
              <a:rPr sz="975" b="0">
                <a:solidFill>
                  <a:srgbClr val="777772"/>
                </a:solidFill>
                <a:latin typeface="DejaVu Sans"/>
                <a:ea typeface="DejaVu Sans"/>
                <a:cs typeface="DejaVu Sans"/>
              </a:rPr>
              <a:t>W3Techs</a:t>
            </a:r>
          </a:p>
        </p:txBody>
      </p:sp>
      <p:sp>
        <p:nvSpPr>
          <p:cNvPr id="16" name="">
            <a:extLst xmlns:a="http://schemas.openxmlformats.org/drawingml/2006/main">
              <a:ext uri="{FF2B5EF4-FFF2-40B4-BE49-F238E27FC236}">
                <a16:creationId xmlns:a16="http://schemas.microsoft.com/office/drawing/2014/main" id="{957C825B-54FF-4F34-896E-51CB037C86C9}"/>
              </a:ext>
            </a:extLst>
          </p:cNvPr>
          <p:cNvSpPr>
            <a:spLocks xmlns:a="http://schemas.openxmlformats.org/drawingml/2006/main" noGrp="1"/>
          </p:cNvSpPr>
          <p:nvPr/>
        </p:nvSpPr>
        <p:spPr>
          <a:xfrm xmlns:a="http://schemas.openxmlformats.org/drawingml/2006/main">
            <a:off x="1238250" y="4981575"/>
            <a:ext cx="971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575" b="0">
                <a:solidFill>
                  <a:srgbClr val="4D4D49"/>
                </a:solidFill>
                <a:latin typeface="DejaVu Sans"/>
                <a:ea typeface="DejaVu Sans"/>
                <a:cs typeface="DejaVu Sans"/>
              </a:defRPr>
            </a:pPr>
            <a:r>
              <a:rPr sz="1575" b="0">
                <a:solidFill>
                  <a:srgbClr val="4D4D49"/>
                </a:solidFill>
                <a:latin typeface="DejaVu Sans"/>
                <a:ea typeface="DejaVu Sans"/>
                <a:cs typeface="DejaVu Sans"/>
              </a:rPr>
              <a:t>Booking forms, checkout flows and contact forms can fail while the page still looks normal.</a:t>
            </a:r>
          </a:p>
        </p:txBody>
      </p:sp>
      <p:sp>
        <p:nvSpPr>
          <p:cNvPr id="17" name="">
            <a:extLst xmlns:a="http://schemas.openxmlformats.org/drawingml/2006/main">
              <a:ext uri="{FF2B5EF4-FFF2-40B4-BE49-F238E27FC236}">
                <a16:creationId xmlns:a16="http://schemas.microsoft.com/office/drawing/2014/main" id="{202A3BB7-B85C-4779-9AD4-2574A56145EC}"/>
              </a:ext>
            </a:extLst>
          </p:cNvPr>
          <p:cNvSpPr>
            <a:spLocks xmlns:a="http://schemas.openxmlformats.org/drawingml/2006/main" noGrp="1"/>
          </p:cNvSpPr>
          <p:nvPr/>
        </p:nvSpPr>
        <p:spPr>
          <a:xfrm xmlns:a="http://schemas.openxmlformats.org/drawingml/2006/main">
            <a:off x="1238250" y="5524500"/>
            <a:ext cx="971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50"/>
          </a:bodyPr>
          <a:lstStyle xmlns:a="http://schemas.openxmlformats.org/drawingml/2006/main"/>
          <a:p xmlns:a="http://schemas.openxmlformats.org/drawingml/2006/main">
            <a:pPr algn="ctr">
              <a:defRPr sz="1575" b="1">
                <a:solidFill>
                  <a:srgbClr val="111111"/>
                </a:solidFill>
                <a:latin typeface="DejaVu Sans"/>
                <a:ea typeface="DejaVu Sans"/>
                <a:cs typeface="DejaVu Sans"/>
              </a:defRPr>
            </a:pPr>
            <a:r>
              <a:rPr sz="1575" b="1">
                <a:solidFill>
                  <a:srgbClr val="111111"/>
                </a:solidFill>
                <a:latin typeface="DejaVu Sans"/>
                <a:ea typeface="DejaVu Sans"/>
                <a:cs typeface="DejaVu Sans"/>
              </a:rPr>
              <a:t>The hackathon prototype proves the experience. A WordPress plugin can productize it.</a:t>
            </a:r>
          </a:p>
        </p:txBody>
      </p:sp>
      <p:sp>
        <p:nvSpPr>
          <p:cNvPr id="18" name="">
            <a:extLst xmlns:a="http://schemas.openxmlformats.org/drawingml/2006/main">
              <a:ext uri="{FF2B5EF4-FFF2-40B4-BE49-F238E27FC236}">
                <a16:creationId xmlns:a16="http://schemas.microsoft.com/office/drawing/2014/main" id="{E3EB6BBB-B9AF-4F9B-9AA4-0C7777361F16}"/>
              </a:ext>
            </a:extLst>
          </p:cNvPr>
          <p:cNvSpPr>
            <a:spLocks xmlns:a="http://schemas.openxmlformats.org/drawingml/2006/main" noGrp="1"/>
          </p:cNvSpPr>
          <p:nvPr/>
        </p:nvSpPr>
        <p:spPr>
          <a:xfrm xmlns:a="http://schemas.openxmlformats.org/drawingml/2006/main">
            <a:off x="685800" y="64579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67"/>
          </a:bodyPr>
          <a:lstStyle xmlns:a="http://schemas.openxmlformats.org/drawingml/2006/main"/>
          <a:p xmlns:a="http://schemas.openxmlformats.org/drawingml/2006/main">
            <a:pPr algn="l">
              <a:defRPr sz="750" b="0">
                <a:solidFill>
                  <a:srgbClr val="777772"/>
                </a:solidFill>
                <a:latin typeface="DejaVu Sans"/>
                <a:ea typeface="DejaVu Sans"/>
                <a:cs typeface="DejaVu Sans"/>
              </a:defRPr>
            </a:pPr>
            <a:r>
              <a:rPr sz="750" b="0">
                <a:solidFill>
                  <a:srgbClr val="777772"/>
                </a:solidFill>
                <a:latin typeface="DejaVu Sans"/>
                <a:ea typeface="DejaVu Sans"/>
                <a:cs typeface="DejaVu Sans"/>
              </a:rPr>
              <a:t>JustAsk   03</a:t>
            </a:r>
          </a:p>
        </p:txBody>
      </p:sp>
    </p:spTree>
    <p:extLst>
      <p:ext uri="{BB962C8B-B14F-4D97-AF65-F5344CB8AC3E}">
        <p14:creationId xmlns:p14="http://schemas.microsoft.com/office/powerpoint/2010/main" val="1670588534"/>
      </p:ext>
    </p:extLst>
  </p:cSld>
</p:sld>
</file>

<file path=ppt/slides/slide4.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3824351-A6C0-48F4-8435-F856C850AFE6}"/>
              </a:ext>
            </a:extLst>
          </p:cNvPr>
          <p:cNvSpPr>
            <a:spLocks xmlns:a="http://schemas.openxmlformats.org/drawingml/2006/main" noGrp="1"/>
          </p:cNvSpPr>
          <p:nvPr/>
        </p:nvSpPr>
        <p:spPr>
          <a:xfrm xmlns:a="http://schemas.openxmlformats.org/drawingml/2006/main">
            <a:off x="685800" y="438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111"/>
                </a:solidFill>
                <a:latin typeface="DejaVu Sans"/>
                <a:ea typeface="DejaVu Sans"/>
                <a:cs typeface="DejaVu Sans"/>
              </a:defRPr>
            </a:pPr>
            <a:r>
              <a:rPr sz="2550" b="1">
                <a:solidFill>
                  <a:srgbClr val="111111"/>
                </a:solidFill>
                <a:latin typeface="DejaVu Sans"/>
                <a:ea typeface="DejaVu Sans"/>
                <a:cs typeface="DejaVu Sans"/>
              </a:rPr>
              <a:t>Owner Mode supplies the missing context</a:t>
            </a:r>
          </a:p>
        </p:txBody>
      </p:sp>
      <p:sp>
        <p:nvSpPr>
          <p:cNvPr id="2" name="">
            <a:extLst xmlns:a="http://schemas.openxmlformats.org/drawingml/2006/main">
              <a:ext uri="{FF2B5EF4-FFF2-40B4-BE49-F238E27FC236}">
                <a16:creationId xmlns:a16="http://schemas.microsoft.com/office/drawing/2014/main" id="{37DCA6F6-0041-4E33-8589-C0CD909CFCBC}"/>
              </a:ext>
            </a:extLst>
          </p:cNvPr>
          <p:cNvSpPr>
            <a:spLocks xmlns:a="http://schemas.openxmlformats.org/drawingml/2006/main" noGrp="1"/>
          </p:cNvSpPr>
          <p:nvPr/>
        </p:nvSpPr>
        <p:spPr>
          <a:xfrm xmlns:a="http://schemas.openxmlformats.org/drawingml/2006/main">
            <a:off x="685800" y="1104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The page sends selected booking data and diagnostics with the voice request.</a:t>
            </a:r>
          </a:p>
        </p:txBody>
      </p:sp>
      <p:sp>
        <p:nvSpPr>
          <p:cNvPr id="3" name="">
            <a:extLst xmlns:a="http://schemas.openxmlformats.org/drawingml/2006/main">
              <a:ext uri="{FF2B5EF4-FFF2-40B4-BE49-F238E27FC236}">
                <a16:creationId xmlns:a16="http://schemas.microsoft.com/office/drawing/2014/main" id="{F21C95C6-2F50-403D-8A91-48153C4316D9}"/>
              </a:ext>
            </a:extLst>
          </p:cNvPr>
          <p:cNvSpPr>
            <a:spLocks xmlns:a="http://schemas.openxmlformats.org/drawingml/2006/main" noGrp="1"/>
          </p:cNvSpPr>
          <p:nvPr/>
        </p:nvSpPr>
        <p:spPr>
          <a:xfrm xmlns:a="http://schemas.openxmlformats.org/drawingml/2006/main">
            <a:off x="685800" y="1524000"/>
            <a:ext cx="495300" cy="38100"/>
          </a:xfrm>
          <a:prstGeom xmlns:a="http://schemas.openxmlformats.org/drawingml/2006/main" prst="roundRect">
            <a:avLst>
              <a:gd name="adj" fmla="val 50000"/>
            </a:avLst>
          </a:prstGeom>
          <a:solidFill xmlns:a="http://schemas.openxmlformats.org/drawingml/2006/main">
            <a:srgbClr val="10A37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94DBE2-F002-4F81-A00C-6C27C5A091A4}"/>
              </a:ext>
            </a:extLst>
          </p:cNvPr>
          <p:cNvSpPr>
            <a:spLocks xmlns:a="http://schemas.openxmlformats.org/drawingml/2006/main" noGrp="1"/>
          </p:cNvSpPr>
          <p:nvPr/>
        </p:nvSpPr>
        <p:spPr>
          <a:xfrm xmlns:a="http://schemas.openxmlformats.org/drawingml/2006/main">
            <a:off x="685800" y="1924050"/>
            <a:ext cx="5905500" cy="371475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9525">
            <a:solidFill>
              <a:srgbClr val="D8D8D2"/>
            </a:solidFill>
          </a:ln>
        </p:spPr>
      </p:sp>
      <p:sp>
        <p:nvSpPr>
          <p:cNvPr id="5" name="">
            <a:extLst xmlns:a="http://schemas.openxmlformats.org/drawingml/2006/main">
              <a:ext uri="{FF2B5EF4-FFF2-40B4-BE49-F238E27FC236}">
                <a16:creationId xmlns:a16="http://schemas.microsoft.com/office/drawing/2014/main" id="{0F3655BB-A50A-406E-A74A-A2382202B556}"/>
              </a:ext>
            </a:extLst>
          </p:cNvPr>
          <p:cNvSpPr>
            <a:spLocks xmlns:a="http://schemas.openxmlformats.org/drawingml/2006/main" noGrp="1"/>
          </p:cNvSpPr>
          <p:nvPr/>
        </p:nvSpPr>
        <p:spPr>
          <a:xfrm xmlns:a="http://schemas.openxmlformats.org/drawingml/2006/main">
            <a:off x="990600" y="2181225"/>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777772"/>
                </a:solidFill>
                <a:latin typeface="DejaVu Sans"/>
                <a:ea typeface="DejaVu Sans"/>
                <a:cs typeface="DejaVu Sans"/>
              </a:defRPr>
            </a:pPr>
            <a:r>
              <a:rPr sz="900" b="1">
                <a:solidFill>
                  <a:srgbClr val="777772"/>
                </a:solidFill>
                <a:latin typeface="DejaVu Sans"/>
                <a:ea typeface="DejaVu Sans"/>
                <a:cs typeface="DejaVu Sans"/>
              </a:rPr>
              <a:t>BOOKING PAGE</a:t>
            </a:r>
          </a:p>
        </p:txBody>
      </p:sp>
      <p:sp>
        <p:nvSpPr>
          <p:cNvPr id="6" name="">
            <a:extLst xmlns:a="http://schemas.openxmlformats.org/drawingml/2006/main">
              <a:ext uri="{FF2B5EF4-FFF2-40B4-BE49-F238E27FC236}">
                <a16:creationId xmlns:a16="http://schemas.microsoft.com/office/drawing/2014/main" id="{25ACBDFB-31BD-45BA-B622-BE64F5EBF21B}"/>
              </a:ext>
            </a:extLst>
          </p:cNvPr>
          <p:cNvSpPr>
            <a:spLocks xmlns:a="http://schemas.openxmlformats.org/drawingml/2006/main" noGrp="1"/>
          </p:cNvSpPr>
          <p:nvPr/>
        </p:nvSpPr>
        <p:spPr>
          <a:xfrm xmlns:a="http://schemas.openxmlformats.org/drawingml/2006/main">
            <a:off x="990600" y="25908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476"/>
          </a:bodyPr>
          <a:lstStyle xmlns:a="http://schemas.openxmlformats.org/drawingml/2006/main"/>
          <a:p xmlns:a="http://schemas.openxmlformats.org/drawingml/2006/main">
            <a:pPr algn="l">
              <a:defRPr sz="2100" b="1">
                <a:solidFill>
                  <a:srgbClr val="111111"/>
                </a:solidFill>
                <a:latin typeface="DejaVu Sans"/>
                <a:ea typeface="DejaVu Sans"/>
                <a:cs typeface="DejaVu Sans"/>
              </a:defRPr>
            </a:pPr>
            <a:r>
              <a:rPr sz="2100" b="1">
                <a:solidFill>
                  <a:srgbClr val="111111"/>
                </a:solidFill>
                <a:latin typeface="DejaVu Sans"/>
                <a:ea typeface="DejaVu Sans"/>
                <a:cs typeface="DejaVu Sans"/>
              </a:rPr>
              <a:t>Haircut with Sara</a:t>
            </a:r>
          </a:p>
        </p:txBody>
      </p:sp>
      <p:sp>
        <p:nvSpPr>
          <p:cNvPr id="7" name="">
            <a:extLst xmlns:a="http://schemas.openxmlformats.org/drawingml/2006/main">
              <a:ext uri="{FF2B5EF4-FFF2-40B4-BE49-F238E27FC236}">
                <a16:creationId xmlns:a16="http://schemas.microsoft.com/office/drawing/2014/main" id="{6BCE0081-FB98-4731-A265-98D2EC852BFF}"/>
              </a:ext>
            </a:extLst>
          </p:cNvPr>
          <p:cNvSpPr>
            <a:spLocks xmlns:a="http://schemas.openxmlformats.org/drawingml/2006/main" noGrp="1"/>
          </p:cNvSpPr>
          <p:nvPr/>
        </p:nvSpPr>
        <p:spPr>
          <a:xfrm xmlns:a="http://schemas.openxmlformats.org/drawingml/2006/main">
            <a:off x="1000125" y="3238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defRPr sz="1050" b="0">
                <a:solidFill>
                  <a:srgbClr val="777772"/>
                </a:solidFill>
                <a:latin typeface="DejaVu Sans"/>
                <a:ea typeface="DejaVu Sans"/>
                <a:cs typeface="DejaVu Sans"/>
              </a:defRPr>
            </a:pPr>
            <a:r>
              <a:rPr sz="1050" b="0">
                <a:solidFill>
                  <a:srgbClr val="777772"/>
                </a:solidFill>
                <a:latin typeface="DejaVu Sans"/>
                <a:ea typeface="DejaVu Sans"/>
                <a:cs typeface="DejaVu Sans"/>
              </a:rPr>
              <a:t>Current route</a:t>
            </a:r>
          </a:p>
        </p:txBody>
      </p:sp>
      <p:sp>
        <p:nvSpPr>
          <p:cNvPr id="8" name="">
            <a:extLst xmlns:a="http://schemas.openxmlformats.org/drawingml/2006/main">
              <a:ext uri="{FF2B5EF4-FFF2-40B4-BE49-F238E27FC236}">
                <a16:creationId xmlns:a16="http://schemas.microsoft.com/office/drawing/2014/main" id="{DCCD322B-B16D-4D40-8338-E6CF02FC2E5F}"/>
              </a:ext>
            </a:extLst>
          </p:cNvPr>
          <p:cNvSpPr>
            <a:spLocks xmlns:a="http://schemas.openxmlformats.org/drawingml/2006/main" noGrp="1"/>
          </p:cNvSpPr>
          <p:nvPr/>
        </p:nvSpPr>
        <p:spPr>
          <a:xfrm xmlns:a="http://schemas.openxmlformats.org/drawingml/2006/main">
            <a:off x="2876550" y="32194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11111"/>
                </a:solidFill>
                <a:latin typeface="DejaVu Sans"/>
                <a:ea typeface="DejaVu Sans"/>
                <a:cs typeface="DejaVu Sans"/>
              </a:defRPr>
            </a:pPr>
            <a:r>
              <a:rPr sz="1350" b="1">
                <a:solidFill>
                  <a:srgbClr val="111111"/>
                </a:solidFill>
                <a:latin typeface="DejaVu Sans"/>
                <a:ea typeface="DejaVu Sans"/>
                <a:cs typeface="DejaVu Sans"/>
              </a:rPr>
              <a:t>/book</a:t>
            </a:r>
          </a:p>
        </p:txBody>
      </p:sp>
      <p:sp>
        <p:nvSpPr>
          <p:cNvPr id="9" name="">
            <a:extLst xmlns:a="http://schemas.openxmlformats.org/drawingml/2006/main">
              <a:ext uri="{FF2B5EF4-FFF2-40B4-BE49-F238E27FC236}">
                <a16:creationId xmlns:a16="http://schemas.microsoft.com/office/drawing/2014/main" id="{4966206F-B552-4A41-A641-8ABA33AA2780}"/>
              </a:ext>
            </a:extLst>
          </p:cNvPr>
          <p:cNvSpPr>
            <a:spLocks xmlns:a="http://schemas.openxmlformats.org/drawingml/2006/main" noGrp="1"/>
          </p:cNvSpPr>
          <p:nvPr/>
        </p:nvSpPr>
        <p:spPr>
          <a:xfrm xmlns:a="http://schemas.openxmlformats.org/drawingml/2006/main">
            <a:off x="1000125" y="3552825"/>
            <a:ext cx="49530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6B920B-686B-4568-8CBB-A182CF72B1FC}"/>
              </a:ext>
            </a:extLst>
          </p:cNvPr>
          <p:cNvSpPr>
            <a:spLocks xmlns:a="http://schemas.openxmlformats.org/drawingml/2006/main" noGrp="1"/>
          </p:cNvSpPr>
          <p:nvPr/>
        </p:nvSpPr>
        <p:spPr>
          <a:xfrm xmlns:a="http://schemas.openxmlformats.org/drawingml/2006/main">
            <a:off x="1000125" y="378142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defRPr sz="1050" b="0">
                <a:solidFill>
                  <a:srgbClr val="777772"/>
                </a:solidFill>
                <a:latin typeface="DejaVu Sans"/>
                <a:ea typeface="DejaVu Sans"/>
                <a:cs typeface="DejaVu Sans"/>
              </a:defRPr>
            </a:pPr>
            <a:r>
              <a:rPr sz="1050" b="0">
                <a:solidFill>
                  <a:srgbClr val="777772"/>
                </a:solidFill>
                <a:latin typeface="DejaVu Sans"/>
                <a:ea typeface="DejaVu Sans"/>
                <a:cs typeface="DejaVu Sans"/>
              </a:rPr>
              <a:t>Selected service</a:t>
            </a:r>
          </a:p>
        </p:txBody>
      </p:sp>
      <p:sp>
        <p:nvSpPr>
          <p:cNvPr id="11" name="">
            <a:extLst xmlns:a="http://schemas.openxmlformats.org/drawingml/2006/main">
              <a:ext uri="{FF2B5EF4-FFF2-40B4-BE49-F238E27FC236}">
                <a16:creationId xmlns:a16="http://schemas.microsoft.com/office/drawing/2014/main" id="{9AE50998-BE71-4D45-A28D-AB7247500A5D}"/>
              </a:ext>
            </a:extLst>
          </p:cNvPr>
          <p:cNvSpPr>
            <a:spLocks xmlns:a="http://schemas.openxmlformats.org/drawingml/2006/main" noGrp="1"/>
          </p:cNvSpPr>
          <p:nvPr/>
        </p:nvSpPr>
        <p:spPr>
          <a:xfrm xmlns:a="http://schemas.openxmlformats.org/drawingml/2006/main">
            <a:off x="2876550" y="376237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11111"/>
                </a:solidFill>
                <a:latin typeface="DejaVu Sans"/>
                <a:ea typeface="DejaVu Sans"/>
                <a:cs typeface="DejaVu Sans"/>
              </a:defRPr>
            </a:pPr>
            <a:r>
              <a:rPr sz="1350" b="1">
                <a:solidFill>
                  <a:srgbClr val="111111"/>
                </a:solidFill>
                <a:latin typeface="DejaVu Sans"/>
                <a:ea typeface="DejaVu Sans"/>
                <a:cs typeface="DejaVu Sans"/>
              </a:rPr>
              <a:t>Haircut</a:t>
            </a:r>
          </a:p>
        </p:txBody>
      </p:sp>
      <p:sp>
        <p:nvSpPr>
          <p:cNvPr id="12" name="">
            <a:extLst xmlns:a="http://schemas.openxmlformats.org/drawingml/2006/main">
              <a:ext uri="{FF2B5EF4-FFF2-40B4-BE49-F238E27FC236}">
                <a16:creationId xmlns:a16="http://schemas.microsoft.com/office/drawing/2014/main" id="{132AE1A2-5D6E-4116-A061-4E1ABEC8CDD6}"/>
              </a:ext>
            </a:extLst>
          </p:cNvPr>
          <p:cNvSpPr>
            <a:spLocks xmlns:a="http://schemas.openxmlformats.org/drawingml/2006/main" noGrp="1"/>
          </p:cNvSpPr>
          <p:nvPr/>
        </p:nvSpPr>
        <p:spPr>
          <a:xfrm xmlns:a="http://schemas.openxmlformats.org/drawingml/2006/main">
            <a:off x="1000125" y="4095750"/>
            <a:ext cx="49530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7B9CCAC-8BB7-4A3A-B8DB-20BC934732D6}"/>
              </a:ext>
            </a:extLst>
          </p:cNvPr>
          <p:cNvSpPr>
            <a:spLocks xmlns:a="http://schemas.openxmlformats.org/drawingml/2006/main" noGrp="1"/>
          </p:cNvSpPr>
          <p:nvPr/>
        </p:nvSpPr>
        <p:spPr>
          <a:xfrm xmlns:a="http://schemas.openxmlformats.org/drawingml/2006/main">
            <a:off x="1000125" y="43243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defRPr sz="1050" b="0">
                <a:solidFill>
                  <a:srgbClr val="777772"/>
                </a:solidFill>
                <a:latin typeface="DejaVu Sans"/>
                <a:ea typeface="DejaVu Sans"/>
                <a:cs typeface="DejaVu Sans"/>
              </a:defRPr>
            </a:pPr>
            <a:r>
              <a:rPr sz="1050" b="0">
                <a:solidFill>
                  <a:srgbClr val="777772"/>
                </a:solidFill>
                <a:latin typeface="DejaVu Sans"/>
                <a:ea typeface="DejaVu Sans"/>
                <a:cs typeface="DejaVu Sans"/>
              </a:rPr>
              <a:t>Selected staff</a:t>
            </a:r>
          </a:p>
        </p:txBody>
      </p:sp>
      <p:sp>
        <p:nvSpPr>
          <p:cNvPr id="14" name="">
            <a:extLst xmlns:a="http://schemas.openxmlformats.org/drawingml/2006/main">
              <a:ext uri="{FF2B5EF4-FFF2-40B4-BE49-F238E27FC236}">
                <a16:creationId xmlns:a16="http://schemas.microsoft.com/office/drawing/2014/main" id="{50B5847B-E6B0-41A7-86C1-8F0A657442B1}"/>
              </a:ext>
            </a:extLst>
          </p:cNvPr>
          <p:cNvSpPr>
            <a:spLocks xmlns:a="http://schemas.openxmlformats.org/drawingml/2006/main" noGrp="1"/>
          </p:cNvSpPr>
          <p:nvPr/>
        </p:nvSpPr>
        <p:spPr>
          <a:xfrm xmlns:a="http://schemas.openxmlformats.org/drawingml/2006/main">
            <a:off x="2876550" y="430530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11111"/>
                </a:solidFill>
                <a:latin typeface="DejaVu Sans"/>
                <a:ea typeface="DejaVu Sans"/>
                <a:cs typeface="DejaVu Sans"/>
              </a:defRPr>
            </a:pPr>
            <a:r>
              <a:rPr sz="1350" b="1">
                <a:solidFill>
                  <a:srgbClr val="111111"/>
                </a:solidFill>
                <a:latin typeface="DejaVu Sans"/>
                <a:ea typeface="DejaVu Sans"/>
                <a:cs typeface="DejaVu Sans"/>
              </a:rPr>
              <a:t>Sara</a:t>
            </a:r>
          </a:p>
        </p:txBody>
      </p:sp>
      <p:sp>
        <p:nvSpPr>
          <p:cNvPr id="15" name="">
            <a:extLst xmlns:a="http://schemas.openxmlformats.org/drawingml/2006/main">
              <a:ext uri="{FF2B5EF4-FFF2-40B4-BE49-F238E27FC236}">
                <a16:creationId xmlns:a16="http://schemas.microsoft.com/office/drawing/2014/main" id="{95EFD837-319C-4BC3-B54A-CEC631DB5228}"/>
              </a:ext>
            </a:extLst>
          </p:cNvPr>
          <p:cNvSpPr>
            <a:spLocks xmlns:a="http://schemas.openxmlformats.org/drawingml/2006/main" noGrp="1"/>
          </p:cNvSpPr>
          <p:nvPr/>
        </p:nvSpPr>
        <p:spPr>
          <a:xfrm xmlns:a="http://schemas.openxmlformats.org/drawingml/2006/main">
            <a:off x="1000125" y="4638675"/>
            <a:ext cx="49530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0DD6A2-49EA-4C7F-ADCD-9A8B28F3D72E}"/>
              </a:ext>
            </a:extLst>
          </p:cNvPr>
          <p:cNvSpPr>
            <a:spLocks xmlns:a="http://schemas.openxmlformats.org/drawingml/2006/main" noGrp="1"/>
          </p:cNvSpPr>
          <p:nvPr/>
        </p:nvSpPr>
        <p:spPr>
          <a:xfrm xmlns:a="http://schemas.openxmlformats.org/drawingml/2006/main">
            <a:off x="1000125" y="4867275"/>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defRPr sz="1050" b="0">
                <a:solidFill>
                  <a:srgbClr val="777772"/>
                </a:solidFill>
                <a:latin typeface="DejaVu Sans"/>
                <a:ea typeface="DejaVu Sans"/>
                <a:cs typeface="DejaVu Sans"/>
              </a:defRPr>
            </a:pPr>
            <a:r>
              <a:rPr sz="1050" b="0">
                <a:solidFill>
                  <a:srgbClr val="777772"/>
                </a:solidFill>
                <a:latin typeface="DejaVu Sans"/>
                <a:ea typeface="DejaVu Sans"/>
                <a:cs typeface="DejaVu Sans"/>
              </a:rPr>
              <a:t>Availability API</a:t>
            </a:r>
          </a:p>
        </p:txBody>
      </p:sp>
      <p:sp>
        <p:nvSpPr>
          <p:cNvPr id="17" name="">
            <a:extLst xmlns:a="http://schemas.openxmlformats.org/drawingml/2006/main">
              <a:ext uri="{FF2B5EF4-FFF2-40B4-BE49-F238E27FC236}">
                <a16:creationId xmlns:a16="http://schemas.microsoft.com/office/drawing/2014/main" id="{2487232D-CCC4-42AD-82C7-EB0487D85202}"/>
              </a:ext>
            </a:extLst>
          </p:cNvPr>
          <p:cNvSpPr>
            <a:spLocks xmlns:a="http://schemas.openxmlformats.org/drawingml/2006/main" noGrp="1"/>
          </p:cNvSpPr>
          <p:nvPr/>
        </p:nvSpPr>
        <p:spPr>
          <a:xfrm xmlns:a="http://schemas.openxmlformats.org/drawingml/2006/main">
            <a:off x="2876550" y="4848225"/>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11111"/>
                </a:solidFill>
                <a:latin typeface="DejaVu Sans"/>
                <a:ea typeface="DejaVu Sans"/>
                <a:cs typeface="DejaVu Sans"/>
              </a:defRPr>
            </a:pPr>
            <a:r>
              <a:rPr sz="1350" b="1">
                <a:solidFill>
                  <a:srgbClr val="111111"/>
                </a:solidFill>
                <a:latin typeface="DejaVu Sans"/>
                <a:ea typeface="DejaVu Sans"/>
                <a:cs typeface="DejaVu Sans"/>
              </a:rPr>
              <a:t>200 response, 0 slots</a:t>
            </a:r>
          </a:p>
        </p:txBody>
      </p:sp>
      <p:sp>
        <p:nvSpPr>
          <p:cNvPr id="18" name="">
            <a:extLst xmlns:a="http://schemas.openxmlformats.org/drawingml/2006/main">
              <a:ext uri="{FF2B5EF4-FFF2-40B4-BE49-F238E27FC236}">
                <a16:creationId xmlns:a16="http://schemas.microsoft.com/office/drawing/2014/main" id="{8DD0F845-514F-477B-A888-ED57890426FE}"/>
              </a:ext>
            </a:extLst>
          </p:cNvPr>
          <p:cNvSpPr>
            <a:spLocks xmlns:a="http://schemas.openxmlformats.org/drawingml/2006/main" noGrp="1"/>
          </p:cNvSpPr>
          <p:nvPr/>
        </p:nvSpPr>
        <p:spPr>
          <a:xfrm xmlns:a="http://schemas.openxmlformats.org/drawingml/2006/main">
            <a:off x="1000125" y="5181600"/>
            <a:ext cx="4953000" cy="9525"/>
          </a:xfrm>
          <a:prstGeom xmlns:a="http://schemas.openxmlformats.org/drawingml/2006/main" prst="rect">
            <a:avLst/>
          </a:prstGeom>
          <a:solidFill xmlns:a="http://schemas.openxmlformats.org/drawingml/2006/main">
            <a:srgbClr val="D8D8D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0C68620-A5A3-42EE-BEB3-A068432708A1}"/>
              </a:ext>
            </a:extLst>
          </p:cNvPr>
          <p:cNvSpPr>
            <a:spLocks xmlns:a="http://schemas.openxmlformats.org/drawingml/2006/main" noGrp="1"/>
          </p:cNvSpPr>
          <p:nvPr/>
        </p:nvSpPr>
        <p:spPr>
          <a:xfrm xmlns:a="http://schemas.openxmlformats.org/drawingml/2006/main">
            <a:off x="7000875" y="1924050"/>
            <a:ext cx="4505325" cy="3714750"/>
          </a:xfrm>
          <a:prstGeom xmlns:a="http://schemas.openxmlformats.org/drawingml/2006/main" prst="roundRect">
            <a:avLst>
              <a:gd name="adj" fmla="val 5641"/>
            </a:avLst>
          </a:prstGeom>
          <a:solidFill xmlns:a="http://schemas.openxmlformats.org/drawingml/2006/main">
            <a:srgbClr val="111111"/>
          </a:solidFill>
          <a:ln xmlns:a="http://schemas.openxmlformats.org/drawingml/2006/main" w="9525">
            <a:solidFill>
              <a:srgbClr val="111111"/>
            </a:solidFill>
          </a:ln>
        </p:spPr>
      </p:sp>
      <p:sp>
        <p:nvSpPr>
          <p:cNvPr id="20" name="">
            <a:extLst xmlns:a="http://schemas.openxmlformats.org/drawingml/2006/main">
              <a:ext uri="{FF2B5EF4-FFF2-40B4-BE49-F238E27FC236}">
                <a16:creationId xmlns:a16="http://schemas.microsoft.com/office/drawing/2014/main" id="{EF2E8298-4085-424E-A2C8-7284461C0DCA}"/>
              </a:ext>
            </a:extLst>
          </p:cNvPr>
          <p:cNvSpPr>
            <a:spLocks xmlns:a="http://schemas.openxmlformats.org/drawingml/2006/main" noGrp="1"/>
          </p:cNvSpPr>
          <p:nvPr/>
        </p:nvSpPr>
        <p:spPr>
          <a:xfrm xmlns:a="http://schemas.openxmlformats.org/drawingml/2006/main">
            <a:off x="7343775" y="21907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8BE0C5"/>
                </a:solidFill>
                <a:latin typeface="DejaVu Sans"/>
                <a:ea typeface="DejaVu Sans"/>
                <a:cs typeface="DejaVu Sans"/>
              </a:defRPr>
            </a:pPr>
            <a:r>
              <a:rPr sz="975" b="1">
                <a:solidFill>
                  <a:srgbClr val="8BE0C5"/>
                </a:solidFill>
                <a:latin typeface="DejaVu Sans"/>
                <a:ea typeface="DejaVu Sans"/>
                <a:cs typeface="DejaVu Sans"/>
              </a:rPr>
              <a:t>JUSTASK  ·  OWNER MODE</a:t>
            </a:r>
          </a:p>
        </p:txBody>
      </p:sp>
      <p:sp>
        <p:nvSpPr>
          <p:cNvPr id="21" name="">
            <a:extLst xmlns:a="http://schemas.openxmlformats.org/drawingml/2006/main">
              <a:ext uri="{FF2B5EF4-FFF2-40B4-BE49-F238E27FC236}">
                <a16:creationId xmlns:a16="http://schemas.microsoft.com/office/drawing/2014/main" id="{A94FD2DE-A686-466E-BEC4-ED2EDC95A5CA}"/>
              </a:ext>
            </a:extLst>
          </p:cNvPr>
          <p:cNvSpPr>
            <a:spLocks xmlns:a="http://schemas.openxmlformats.org/drawingml/2006/main" noGrp="1"/>
          </p:cNvSpPr>
          <p:nvPr/>
        </p:nvSpPr>
        <p:spPr>
          <a:xfrm xmlns:a="http://schemas.openxmlformats.org/drawingml/2006/main">
            <a:off x="7343775" y="2714625"/>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“Customers say they can’t</a:t>
            </a:r>
          </a:p>
          <a:p xmlns:a="http://schemas.openxmlformats.org/drawingml/2006/main">
            <a:pPr algn="l">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book Sara. Can you check?”</a:t>
            </a:r>
          </a:p>
        </p:txBody>
      </p:sp>
      <p:sp>
        <p:nvSpPr>
          <p:cNvPr id="22" name="">
            <a:extLst xmlns:a="http://schemas.openxmlformats.org/drawingml/2006/main">
              <a:ext uri="{FF2B5EF4-FFF2-40B4-BE49-F238E27FC236}">
                <a16:creationId xmlns:a16="http://schemas.microsoft.com/office/drawing/2014/main" id="{0365267B-896D-44C7-8FA4-4B842E365089}"/>
              </a:ext>
            </a:extLst>
          </p:cNvPr>
          <p:cNvSpPr>
            <a:spLocks xmlns:a="http://schemas.openxmlformats.org/drawingml/2006/main" noGrp="1"/>
          </p:cNvSpPr>
          <p:nvPr/>
        </p:nvSpPr>
        <p:spPr>
          <a:xfrm xmlns:a="http://schemas.openxmlformats.org/drawingml/2006/main">
            <a:off x="7343775" y="3933825"/>
            <a:ext cx="3714750" cy="19050"/>
          </a:xfrm>
          <a:prstGeom xmlns:a="http://schemas.openxmlformats.org/drawingml/2006/main" prst="rect">
            <a:avLst/>
          </a:prstGeom>
          <a:solidFill xmlns:a="http://schemas.openxmlformats.org/drawingml/2006/main">
            <a:srgbClr val="42423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D7846E6-0AAF-4B4F-9967-5BB5C5F0CED7}"/>
              </a:ext>
            </a:extLst>
          </p:cNvPr>
          <p:cNvSpPr>
            <a:spLocks xmlns:a="http://schemas.openxmlformats.org/drawingml/2006/main" noGrp="1"/>
          </p:cNvSpPr>
          <p:nvPr/>
        </p:nvSpPr>
        <p:spPr>
          <a:xfrm xmlns:a="http://schemas.openxmlformats.org/drawingml/2006/main">
            <a:off x="7343775" y="4248150"/>
            <a:ext cx="3619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C9C9C3"/>
                </a:solidFill>
                <a:latin typeface="DejaVu Sans"/>
                <a:ea typeface="DejaVu Sans"/>
                <a:cs typeface="DejaVu Sans"/>
              </a:defRPr>
            </a:pPr>
            <a:r>
              <a:rPr sz="1500" b="0">
                <a:solidFill>
                  <a:srgbClr val="C9C9C3"/>
                </a:solidFill>
                <a:latin typeface="DejaVu Sans"/>
                <a:ea typeface="DejaVu Sans"/>
                <a:cs typeface="DejaVu Sans"/>
              </a:rPr>
              <a:t>No screenshots</a:t>
            </a:r>
          </a:p>
          <a:p xmlns:a="http://schemas.openxmlformats.org/drawingml/2006/main">
            <a:pPr algn="l">
              <a:defRPr sz="1500" b="0">
                <a:solidFill>
                  <a:srgbClr val="C9C9C3"/>
                </a:solidFill>
                <a:latin typeface="DejaVu Sans"/>
                <a:ea typeface="DejaVu Sans"/>
                <a:cs typeface="DejaVu Sans"/>
              </a:defRPr>
            </a:pPr>
            <a:r>
              <a:rPr sz="1500" b="0">
                <a:solidFill>
                  <a:srgbClr val="C9C9C3"/>
                </a:solidFill>
                <a:latin typeface="DejaVu Sans"/>
                <a:ea typeface="DejaVu Sans"/>
                <a:cs typeface="DejaVu Sans"/>
              </a:rPr>
              <a:t>No copied errors</a:t>
            </a:r>
          </a:p>
          <a:p xmlns:a="http://schemas.openxmlformats.org/drawingml/2006/main">
            <a:pPr algn="l">
              <a:defRPr sz="1500" b="0">
                <a:solidFill>
                  <a:srgbClr val="C9C9C3"/>
                </a:solidFill>
                <a:latin typeface="DejaVu Sans"/>
                <a:ea typeface="DejaVu Sans"/>
                <a:cs typeface="DejaVu Sans"/>
              </a:defRPr>
            </a:pPr>
            <a:r>
              <a:rPr sz="1500" b="0">
                <a:solidFill>
                  <a:srgbClr val="C9C9C3"/>
                </a:solidFill>
                <a:latin typeface="DejaVu Sans"/>
                <a:ea typeface="DejaVu Sans"/>
                <a:cs typeface="DejaVu Sans"/>
              </a:rPr>
              <a:t>No technical explanation required</a:t>
            </a:r>
          </a:p>
        </p:txBody>
      </p:sp>
      <p:sp>
        <p:nvSpPr>
          <p:cNvPr id="24" name="">
            <a:extLst xmlns:a="http://schemas.openxmlformats.org/drawingml/2006/main">
              <a:ext uri="{FF2B5EF4-FFF2-40B4-BE49-F238E27FC236}">
                <a16:creationId xmlns:a16="http://schemas.microsoft.com/office/drawing/2014/main" id="{12176450-AFE0-4E3F-BE8E-959350AD1E9E}"/>
              </a:ext>
            </a:extLst>
          </p:cNvPr>
          <p:cNvSpPr>
            <a:spLocks xmlns:a="http://schemas.openxmlformats.org/drawingml/2006/main" noGrp="1"/>
          </p:cNvSpPr>
          <p:nvPr/>
        </p:nvSpPr>
        <p:spPr>
          <a:xfrm xmlns:a="http://schemas.openxmlformats.org/drawingml/2006/main">
            <a:off x="685800" y="64579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67"/>
          </a:bodyPr>
          <a:lstStyle xmlns:a="http://schemas.openxmlformats.org/drawingml/2006/main"/>
          <a:p xmlns:a="http://schemas.openxmlformats.org/drawingml/2006/main">
            <a:pPr algn="l">
              <a:defRPr sz="750" b="0">
                <a:solidFill>
                  <a:srgbClr val="777772"/>
                </a:solidFill>
                <a:latin typeface="DejaVu Sans"/>
                <a:ea typeface="DejaVu Sans"/>
                <a:cs typeface="DejaVu Sans"/>
              </a:defRPr>
            </a:pPr>
            <a:r>
              <a:rPr sz="750" b="0">
                <a:solidFill>
                  <a:srgbClr val="777772"/>
                </a:solidFill>
                <a:latin typeface="DejaVu Sans"/>
                <a:ea typeface="DejaVu Sans"/>
                <a:cs typeface="DejaVu Sans"/>
              </a:rPr>
              <a:t>JustAsk   04</a:t>
            </a:r>
          </a:p>
        </p:txBody>
      </p:sp>
    </p:spTree>
    <p:extLst>
      <p:ext uri="{BB962C8B-B14F-4D97-AF65-F5344CB8AC3E}">
        <p14:creationId xmlns:p14="http://schemas.microsoft.com/office/powerpoint/2010/main" val="1390309732"/>
      </p:ext>
    </p:extLst>
  </p:cSld>
</p:sld>
</file>

<file path=ppt/slides/slide5.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3EB900B-AD8A-4C11-AFB0-1FE4839CDCDA}"/>
              </a:ext>
            </a:extLst>
          </p:cNvPr>
          <p:cNvSpPr>
            <a:spLocks xmlns:a="http://schemas.openxmlformats.org/drawingml/2006/main" noGrp="1"/>
          </p:cNvSpPr>
          <p:nvPr/>
        </p:nvSpPr>
        <p:spPr>
          <a:xfrm xmlns:a="http://schemas.openxmlformats.org/drawingml/2006/main">
            <a:off x="685800" y="438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111"/>
                </a:solidFill>
                <a:latin typeface="DejaVu Sans"/>
                <a:ea typeface="DejaVu Sans"/>
                <a:cs typeface="DejaVu Sans"/>
              </a:defRPr>
            </a:pPr>
            <a:r>
              <a:rPr sz="2550" b="1">
                <a:solidFill>
                  <a:srgbClr val="111111"/>
                </a:solidFill>
                <a:latin typeface="DejaVu Sans"/>
                <a:ea typeface="DejaVu Sans"/>
                <a:cs typeface="DejaVu Sans"/>
              </a:rPr>
              <a:t>The live demonstration</a:t>
            </a:r>
          </a:p>
        </p:txBody>
      </p:sp>
      <p:sp>
        <p:nvSpPr>
          <p:cNvPr id="2" name="">
            <a:extLst xmlns:a="http://schemas.openxmlformats.org/drawingml/2006/main">
              <a:ext uri="{FF2B5EF4-FFF2-40B4-BE49-F238E27FC236}">
                <a16:creationId xmlns:a16="http://schemas.microsoft.com/office/drawing/2014/main" id="{C286C3D4-A0F7-4962-B658-144B001C42E6}"/>
              </a:ext>
            </a:extLst>
          </p:cNvPr>
          <p:cNvSpPr>
            <a:spLocks xmlns:a="http://schemas.openxmlformats.org/drawingml/2006/main" noGrp="1"/>
          </p:cNvSpPr>
          <p:nvPr/>
        </p:nvSpPr>
        <p:spPr>
          <a:xfrm xmlns:a="http://schemas.openxmlformats.org/drawingml/2006/main">
            <a:off x="685800" y="1104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One spoken request moves from reproduction to a verified repair.</a:t>
            </a:r>
          </a:p>
        </p:txBody>
      </p:sp>
      <p:sp>
        <p:nvSpPr>
          <p:cNvPr id="3" name="">
            <a:extLst xmlns:a="http://schemas.openxmlformats.org/drawingml/2006/main">
              <a:ext uri="{FF2B5EF4-FFF2-40B4-BE49-F238E27FC236}">
                <a16:creationId xmlns:a16="http://schemas.microsoft.com/office/drawing/2014/main" id="{E326AC9B-41C9-49E8-9DD8-401F32570D52}"/>
              </a:ext>
            </a:extLst>
          </p:cNvPr>
          <p:cNvSpPr>
            <a:spLocks xmlns:a="http://schemas.openxmlformats.org/drawingml/2006/main" noGrp="1"/>
          </p:cNvSpPr>
          <p:nvPr/>
        </p:nvSpPr>
        <p:spPr>
          <a:xfrm xmlns:a="http://schemas.openxmlformats.org/drawingml/2006/main">
            <a:off x="685800" y="1524000"/>
            <a:ext cx="495300" cy="38100"/>
          </a:xfrm>
          <a:prstGeom xmlns:a="http://schemas.openxmlformats.org/drawingml/2006/main" prst="roundRect">
            <a:avLst>
              <a:gd name="adj" fmla="val 50000"/>
            </a:avLst>
          </a:prstGeom>
          <a:solidFill xmlns:a="http://schemas.openxmlformats.org/drawingml/2006/main">
            <a:srgbClr val="10A37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92F34E-45E6-4D2A-84F5-C837AD633115}"/>
              </a:ext>
            </a:extLst>
          </p:cNvPr>
          <p:cNvSpPr>
            <a:spLocks xmlns:a="http://schemas.openxmlformats.org/drawingml/2006/main" noGrp="1"/>
          </p:cNvSpPr>
          <p:nvPr/>
        </p:nvSpPr>
        <p:spPr>
          <a:xfrm xmlns:a="http://schemas.openxmlformats.org/drawingml/2006/main">
            <a:off x="762000" y="1933575"/>
            <a:ext cx="590550" cy="5905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D8D2"/>
            </a:solidFill>
          </a:ln>
        </p:spPr>
      </p:sp>
      <p:sp>
        <p:nvSpPr>
          <p:cNvPr id="5" name="">
            <a:extLst xmlns:a="http://schemas.openxmlformats.org/drawingml/2006/main">
              <a:ext uri="{FF2B5EF4-FFF2-40B4-BE49-F238E27FC236}">
                <a16:creationId xmlns:a16="http://schemas.microsoft.com/office/drawing/2014/main" id="{708F5288-4208-4D07-97BE-1CA3F7B859EE}"/>
              </a:ext>
            </a:extLst>
          </p:cNvPr>
          <p:cNvSpPr>
            <a:spLocks xmlns:a="http://schemas.openxmlformats.org/drawingml/2006/main" noGrp="1"/>
          </p:cNvSpPr>
          <p:nvPr/>
        </p:nvSpPr>
        <p:spPr>
          <a:xfrm xmlns:a="http://schemas.openxmlformats.org/drawingml/2006/main">
            <a:off x="857250" y="20859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11111"/>
                </a:solidFill>
                <a:latin typeface="DejaVu Sans"/>
                <a:ea typeface="DejaVu Sans"/>
                <a:cs typeface="DejaVu Sans"/>
              </a:defRPr>
            </a:pPr>
            <a:r>
              <a:rPr sz="1275" b="1">
                <a:solidFill>
                  <a:srgbClr val="111111"/>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45BD7AAB-85B8-4ADB-B401-765DEF280A85}"/>
              </a:ext>
            </a:extLst>
          </p:cNvPr>
          <p:cNvSpPr>
            <a:spLocks xmlns:a="http://schemas.openxmlformats.org/drawingml/2006/main" noGrp="1"/>
          </p:cNvSpPr>
          <p:nvPr/>
        </p:nvSpPr>
        <p:spPr>
          <a:xfrm xmlns:a="http://schemas.openxmlformats.org/drawingml/2006/main">
            <a:off x="1581150" y="19145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11111"/>
                </a:solidFill>
                <a:latin typeface="DejaVu Sans"/>
                <a:ea typeface="DejaVu Sans"/>
                <a:cs typeface="DejaVu Sans"/>
              </a:defRPr>
            </a:pPr>
            <a:r>
              <a:rPr sz="1800" b="1">
                <a:solidFill>
                  <a:srgbClr val="111111"/>
                </a:solidFill>
                <a:latin typeface="DejaVu Sans"/>
                <a:ea typeface="DejaVu Sans"/>
                <a:cs typeface="DejaVu Sans"/>
              </a:rPr>
              <a:t>Reproduce</a:t>
            </a:r>
          </a:p>
        </p:txBody>
      </p:sp>
      <p:sp>
        <p:nvSpPr>
          <p:cNvPr id="7" name="">
            <a:extLst xmlns:a="http://schemas.openxmlformats.org/drawingml/2006/main">
              <a:ext uri="{FF2B5EF4-FFF2-40B4-BE49-F238E27FC236}">
                <a16:creationId xmlns:a16="http://schemas.microsoft.com/office/drawing/2014/main" id="{F99150CD-8CD3-454E-805E-FD7CC525116A}"/>
              </a:ext>
            </a:extLst>
          </p:cNvPr>
          <p:cNvSpPr>
            <a:spLocks xmlns:a="http://schemas.openxmlformats.org/drawingml/2006/main" noGrp="1"/>
          </p:cNvSpPr>
          <p:nvPr/>
        </p:nvSpPr>
        <p:spPr>
          <a:xfrm xmlns:a="http://schemas.openxmlformats.org/drawingml/2006/main">
            <a:off x="1581150" y="230505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JustAsk runs the customer booking journey</a:t>
            </a:r>
          </a:p>
        </p:txBody>
      </p:sp>
      <p:sp>
        <p:nvSpPr>
          <p:cNvPr id="8" name="">
            <a:extLst xmlns:a="http://schemas.openxmlformats.org/drawingml/2006/main">
              <a:ext uri="{FF2B5EF4-FFF2-40B4-BE49-F238E27FC236}">
                <a16:creationId xmlns:a16="http://schemas.microsoft.com/office/drawing/2014/main" id="{B3D8E50F-162D-4B46-9D1B-FE1C2ED66DAE}"/>
              </a:ext>
            </a:extLst>
          </p:cNvPr>
          <p:cNvSpPr>
            <a:spLocks xmlns:a="http://schemas.openxmlformats.org/drawingml/2006/main" noGrp="1"/>
          </p:cNvSpPr>
          <p:nvPr/>
        </p:nvSpPr>
        <p:spPr>
          <a:xfrm xmlns:a="http://schemas.openxmlformats.org/drawingml/2006/main">
            <a:off x="762000" y="3238500"/>
            <a:ext cx="590550" cy="5905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D8D2"/>
            </a:solidFill>
          </a:ln>
        </p:spPr>
      </p:sp>
      <p:sp>
        <p:nvSpPr>
          <p:cNvPr id="9" name="">
            <a:extLst xmlns:a="http://schemas.openxmlformats.org/drawingml/2006/main">
              <a:ext uri="{FF2B5EF4-FFF2-40B4-BE49-F238E27FC236}">
                <a16:creationId xmlns:a16="http://schemas.microsoft.com/office/drawing/2014/main" id="{63A4F56A-40A8-423B-8CBA-523F49C41A96}"/>
              </a:ext>
            </a:extLst>
          </p:cNvPr>
          <p:cNvSpPr>
            <a:spLocks xmlns:a="http://schemas.openxmlformats.org/drawingml/2006/main" noGrp="1"/>
          </p:cNvSpPr>
          <p:nvPr/>
        </p:nvSpPr>
        <p:spPr>
          <a:xfrm xmlns:a="http://schemas.openxmlformats.org/drawingml/2006/main">
            <a:off x="857250" y="33909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11111"/>
                </a:solidFill>
                <a:latin typeface="DejaVu Sans"/>
                <a:ea typeface="DejaVu Sans"/>
                <a:cs typeface="DejaVu Sans"/>
              </a:defRPr>
            </a:pPr>
            <a:r>
              <a:rPr sz="1275" b="1">
                <a:solidFill>
                  <a:srgbClr val="111111"/>
                </a:solidFill>
                <a:latin typeface="DejaVu Sans"/>
                <a:ea typeface="DejaVu Sans"/>
                <a:cs typeface="DejaVu Sans"/>
              </a:rPr>
              <a:t>02</a:t>
            </a:r>
          </a:p>
        </p:txBody>
      </p:sp>
      <p:sp>
        <p:nvSpPr>
          <p:cNvPr id="10" name="">
            <a:extLst xmlns:a="http://schemas.openxmlformats.org/drawingml/2006/main">
              <a:ext uri="{FF2B5EF4-FFF2-40B4-BE49-F238E27FC236}">
                <a16:creationId xmlns:a16="http://schemas.microsoft.com/office/drawing/2014/main" id="{45234D11-4E55-473B-8580-E6CA7DEF50C4}"/>
              </a:ext>
            </a:extLst>
          </p:cNvPr>
          <p:cNvSpPr>
            <a:spLocks xmlns:a="http://schemas.openxmlformats.org/drawingml/2006/main" noGrp="1"/>
          </p:cNvSpPr>
          <p:nvPr/>
        </p:nvSpPr>
        <p:spPr>
          <a:xfrm xmlns:a="http://schemas.openxmlformats.org/drawingml/2006/main">
            <a:off x="1581150" y="32194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11111"/>
                </a:solidFill>
                <a:latin typeface="DejaVu Sans"/>
                <a:ea typeface="DejaVu Sans"/>
                <a:cs typeface="DejaVu Sans"/>
              </a:defRPr>
            </a:pPr>
            <a:r>
              <a:rPr sz="1800" b="1">
                <a:solidFill>
                  <a:srgbClr val="111111"/>
                </a:solidFill>
                <a:latin typeface="DejaVu Sans"/>
                <a:ea typeface="DejaVu Sans"/>
                <a:cs typeface="DejaVu Sans"/>
              </a:rPr>
              <a:t>Diagnose</a:t>
            </a:r>
          </a:p>
        </p:txBody>
      </p:sp>
      <p:sp>
        <p:nvSpPr>
          <p:cNvPr id="11" name="">
            <a:extLst xmlns:a="http://schemas.openxmlformats.org/drawingml/2006/main">
              <a:ext uri="{FF2B5EF4-FFF2-40B4-BE49-F238E27FC236}">
                <a16:creationId xmlns:a16="http://schemas.microsoft.com/office/drawing/2014/main" id="{D7E96DCA-E19F-41D4-A5F9-D649587ECEBD}"/>
              </a:ext>
            </a:extLst>
          </p:cNvPr>
          <p:cNvSpPr>
            <a:spLocks xmlns:a="http://schemas.openxmlformats.org/drawingml/2006/main" noGrp="1"/>
          </p:cNvSpPr>
          <p:nvPr/>
        </p:nvSpPr>
        <p:spPr>
          <a:xfrm xmlns:a="http://schemas.openxmlformats.org/drawingml/2006/main">
            <a:off x="1581150" y="36099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Sara has no availability schedule</a:t>
            </a:r>
          </a:p>
        </p:txBody>
      </p:sp>
      <p:sp>
        <p:nvSpPr>
          <p:cNvPr id="12" name="">
            <a:extLst xmlns:a="http://schemas.openxmlformats.org/drawingml/2006/main">
              <a:ext uri="{FF2B5EF4-FFF2-40B4-BE49-F238E27FC236}">
                <a16:creationId xmlns:a16="http://schemas.microsoft.com/office/drawing/2014/main" id="{D287BAA0-B218-4602-81DF-5F66897A6699}"/>
              </a:ext>
            </a:extLst>
          </p:cNvPr>
          <p:cNvSpPr>
            <a:spLocks xmlns:a="http://schemas.openxmlformats.org/drawingml/2006/main" noGrp="1"/>
          </p:cNvSpPr>
          <p:nvPr/>
        </p:nvSpPr>
        <p:spPr>
          <a:xfrm xmlns:a="http://schemas.openxmlformats.org/drawingml/2006/main">
            <a:off x="762000" y="4543425"/>
            <a:ext cx="590550" cy="5905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D8D2"/>
            </a:solidFill>
          </a:ln>
        </p:spPr>
      </p:sp>
      <p:sp>
        <p:nvSpPr>
          <p:cNvPr id="13" name="">
            <a:extLst xmlns:a="http://schemas.openxmlformats.org/drawingml/2006/main">
              <a:ext uri="{FF2B5EF4-FFF2-40B4-BE49-F238E27FC236}">
                <a16:creationId xmlns:a16="http://schemas.microsoft.com/office/drawing/2014/main" id="{3E7B5998-A2E6-4B6C-A264-8540F4E3E73B}"/>
              </a:ext>
            </a:extLst>
          </p:cNvPr>
          <p:cNvSpPr>
            <a:spLocks xmlns:a="http://schemas.openxmlformats.org/drawingml/2006/main" noGrp="1"/>
          </p:cNvSpPr>
          <p:nvPr/>
        </p:nvSpPr>
        <p:spPr>
          <a:xfrm xmlns:a="http://schemas.openxmlformats.org/drawingml/2006/main">
            <a:off x="857250" y="46958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11111"/>
                </a:solidFill>
                <a:latin typeface="DejaVu Sans"/>
                <a:ea typeface="DejaVu Sans"/>
                <a:cs typeface="DejaVu Sans"/>
              </a:defRPr>
            </a:pPr>
            <a:r>
              <a:rPr sz="1275" b="1">
                <a:solidFill>
                  <a:srgbClr val="111111"/>
                </a:solidFill>
                <a:latin typeface="DejaVu Sans"/>
                <a:ea typeface="DejaVu Sans"/>
                <a:cs typeface="DejaVu Sans"/>
              </a:rPr>
              <a:t>03</a:t>
            </a:r>
          </a:p>
        </p:txBody>
      </p:sp>
      <p:sp>
        <p:nvSpPr>
          <p:cNvPr id="14" name="">
            <a:extLst xmlns:a="http://schemas.openxmlformats.org/drawingml/2006/main">
              <a:ext uri="{FF2B5EF4-FFF2-40B4-BE49-F238E27FC236}">
                <a16:creationId xmlns:a16="http://schemas.microsoft.com/office/drawing/2014/main" id="{B28D2EA5-B425-438D-87D9-9B63209CA516}"/>
              </a:ext>
            </a:extLst>
          </p:cNvPr>
          <p:cNvSpPr>
            <a:spLocks xmlns:a="http://schemas.openxmlformats.org/drawingml/2006/main" noGrp="1"/>
          </p:cNvSpPr>
          <p:nvPr/>
        </p:nvSpPr>
        <p:spPr>
          <a:xfrm xmlns:a="http://schemas.openxmlformats.org/drawingml/2006/main">
            <a:off x="1581150" y="45243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11111"/>
                </a:solidFill>
                <a:latin typeface="DejaVu Sans"/>
                <a:ea typeface="DejaVu Sans"/>
                <a:cs typeface="DejaVu Sans"/>
              </a:defRPr>
            </a:pPr>
            <a:r>
              <a:rPr sz="1800" b="1">
                <a:solidFill>
                  <a:srgbClr val="111111"/>
                </a:solidFill>
                <a:latin typeface="DejaVu Sans"/>
                <a:ea typeface="DejaVu Sans"/>
                <a:cs typeface="DejaVu Sans"/>
              </a:rPr>
              <a:t>Research</a:t>
            </a:r>
          </a:p>
        </p:txBody>
      </p:sp>
      <p:sp>
        <p:nvSpPr>
          <p:cNvPr id="15" name="">
            <a:extLst xmlns:a="http://schemas.openxmlformats.org/drawingml/2006/main">
              <a:ext uri="{FF2B5EF4-FFF2-40B4-BE49-F238E27FC236}">
                <a16:creationId xmlns:a16="http://schemas.microsoft.com/office/drawing/2014/main" id="{F29A27F7-CC5F-4E2F-9468-600C9BB277A3}"/>
              </a:ext>
            </a:extLst>
          </p:cNvPr>
          <p:cNvSpPr>
            <a:spLocks xmlns:a="http://schemas.openxmlformats.org/drawingml/2006/main" noGrp="1"/>
          </p:cNvSpPr>
          <p:nvPr/>
        </p:nvSpPr>
        <p:spPr>
          <a:xfrm xmlns:a="http://schemas.openxmlformats.org/drawingml/2006/main">
            <a:off x="1581150" y="49149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Exa returns trusted booking guidance</a:t>
            </a:r>
          </a:p>
        </p:txBody>
      </p:sp>
      <p:sp>
        <p:nvSpPr>
          <p:cNvPr id="16" name="">
            <a:extLst xmlns:a="http://schemas.openxmlformats.org/drawingml/2006/main">
              <a:ext uri="{FF2B5EF4-FFF2-40B4-BE49-F238E27FC236}">
                <a16:creationId xmlns:a16="http://schemas.microsoft.com/office/drawing/2014/main" id="{8D806927-A81F-4B64-A4A3-C81138A54594}"/>
              </a:ext>
            </a:extLst>
          </p:cNvPr>
          <p:cNvSpPr>
            <a:spLocks xmlns:a="http://schemas.openxmlformats.org/drawingml/2006/main" noGrp="1"/>
          </p:cNvSpPr>
          <p:nvPr/>
        </p:nvSpPr>
        <p:spPr>
          <a:xfrm xmlns:a="http://schemas.openxmlformats.org/drawingml/2006/main">
            <a:off x="6477000" y="1933575"/>
            <a:ext cx="590550" cy="5905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D8D2"/>
            </a:solidFill>
          </a:ln>
        </p:spPr>
      </p:sp>
      <p:sp>
        <p:nvSpPr>
          <p:cNvPr id="17" name="">
            <a:extLst xmlns:a="http://schemas.openxmlformats.org/drawingml/2006/main">
              <a:ext uri="{FF2B5EF4-FFF2-40B4-BE49-F238E27FC236}">
                <a16:creationId xmlns:a16="http://schemas.microsoft.com/office/drawing/2014/main" id="{DFBFD63E-9407-4144-BC09-4B51096BD67E}"/>
              </a:ext>
            </a:extLst>
          </p:cNvPr>
          <p:cNvSpPr>
            <a:spLocks xmlns:a="http://schemas.openxmlformats.org/drawingml/2006/main" noGrp="1"/>
          </p:cNvSpPr>
          <p:nvPr/>
        </p:nvSpPr>
        <p:spPr>
          <a:xfrm xmlns:a="http://schemas.openxmlformats.org/drawingml/2006/main">
            <a:off x="6572250" y="208597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11111"/>
                </a:solidFill>
                <a:latin typeface="DejaVu Sans"/>
                <a:ea typeface="DejaVu Sans"/>
                <a:cs typeface="DejaVu Sans"/>
              </a:defRPr>
            </a:pPr>
            <a:r>
              <a:rPr sz="1275" b="1">
                <a:solidFill>
                  <a:srgbClr val="111111"/>
                </a:solidFill>
                <a:latin typeface="DejaVu Sans"/>
                <a:ea typeface="DejaVu Sans"/>
                <a:cs typeface="DejaVu Sans"/>
              </a:rPr>
              <a:t>04</a:t>
            </a:r>
          </a:p>
        </p:txBody>
      </p:sp>
      <p:sp>
        <p:nvSpPr>
          <p:cNvPr id="18" name="">
            <a:extLst xmlns:a="http://schemas.openxmlformats.org/drawingml/2006/main">
              <a:ext uri="{FF2B5EF4-FFF2-40B4-BE49-F238E27FC236}">
                <a16:creationId xmlns:a16="http://schemas.microsoft.com/office/drawing/2014/main" id="{98BBDF01-6EA3-4DB7-8FFA-F6719CA650F3}"/>
              </a:ext>
            </a:extLst>
          </p:cNvPr>
          <p:cNvSpPr>
            <a:spLocks xmlns:a="http://schemas.openxmlformats.org/drawingml/2006/main" noGrp="1"/>
          </p:cNvSpPr>
          <p:nvPr/>
        </p:nvSpPr>
        <p:spPr>
          <a:xfrm xmlns:a="http://schemas.openxmlformats.org/drawingml/2006/main">
            <a:off x="7296150" y="191452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11111"/>
                </a:solidFill>
                <a:latin typeface="DejaVu Sans"/>
                <a:ea typeface="DejaVu Sans"/>
                <a:cs typeface="DejaVu Sans"/>
              </a:defRPr>
            </a:pPr>
            <a:r>
              <a:rPr sz="1800" b="1">
                <a:solidFill>
                  <a:srgbClr val="111111"/>
                </a:solidFill>
                <a:latin typeface="DejaVu Sans"/>
                <a:ea typeface="DejaVu Sans"/>
                <a:cs typeface="DejaVu Sans"/>
              </a:rPr>
              <a:t>Interrupt</a:t>
            </a:r>
          </a:p>
        </p:txBody>
      </p:sp>
      <p:sp>
        <p:nvSpPr>
          <p:cNvPr id="19" name="">
            <a:extLst xmlns:a="http://schemas.openxmlformats.org/drawingml/2006/main">
              <a:ext uri="{FF2B5EF4-FFF2-40B4-BE49-F238E27FC236}">
                <a16:creationId xmlns:a16="http://schemas.microsoft.com/office/drawing/2014/main" id="{EEF2CC51-11B1-42B9-B26A-75A420F4F0CA}"/>
              </a:ext>
            </a:extLst>
          </p:cNvPr>
          <p:cNvSpPr>
            <a:spLocks xmlns:a="http://schemas.openxmlformats.org/drawingml/2006/main" noGrp="1"/>
          </p:cNvSpPr>
          <p:nvPr/>
        </p:nvSpPr>
        <p:spPr>
          <a:xfrm xmlns:a="http://schemas.openxmlformats.org/drawingml/2006/main">
            <a:off x="7296150" y="230505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“We are closed on Friday now.”</a:t>
            </a:r>
          </a:p>
        </p:txBody>
      </p:sp>
      <p:sp>
        <p:nvSpPr>
          <p:cNvPr id="20" name="">
            <a:extLst xmlns:a="http://schemas.openxmlformats.org/drawingml/2006/main">
              <a:ext uri="{FF2B5EF4-FFF2-40B4-BE49-F238E27FC236}">
                <a16:creationId xmlns:a16="http://schemas.microsoft.com/office/drawing/2014/main" id="{3A267894-B15B-4961-B1A0-9684D77AB872}"/>
              </a:ext>
            </a:extLst>
          </p:cNvPr>
          <p:cNvSpPr>
            <a:spLocks xmlns:a="http://schemas.openxmlformats.org/drawingml/2006/main" noGrp="1"/>
          </p:cNvSpPr>
          <p:nvPr/>
        </p:nvSpPr>
        <p:spPr>
          <a:xfrm xmlns:a="http://schemas.openxmlformats.org/drawingml/2006/main">
            <a:off x="6477000" y="3238500"/>
            <a:ext cx="590550" cy="5905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9525">
            <a:solidFill>
              <a:srgbClr val="D8D8D2"/>
            </a:solidFill>
          </a:ln>
        </p:spPr>
      </p:sp>
      <p:sp>
        <p:nvSpPr>
          <p:cNvPr id="21" name="">
            <a:extLst xmlns:a="http://schemas.openxmlformats.org/drawingml/2006/main">
              <a:ext uri="{FF2B5EF4-FFF2-40B4-BE49-F238E27FC236}">
                <a16:creationId xmlns:a16="http://schemas.microsoft.com/office/drawing/2014/main" id="{F869CE53-BA92-4DC3-BA77-9E5E1F674423}"/>
              </a:ext>
            </a:extLst>
          </p:cNvPr>
          <p:cNvSpPr>
            <a:spLocks xmlns:a="http://schemas.openxmlformats.org/drawingml/2006/main" noGrp="1"/>
          </p:cNvSpPr>
          <p:nvPr/>
        </p:nvSpPr>
        <p:spPr>
          <a:xfrm xmlns:a="http://schemas.openxmlformats.org/drawingml/2006/main">
            <a:off x="6572250" y="3390900"/>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11111"/>
                </a:solidFill>
                <a:latin typeface="DejaVu Sans"/>
                <a:ea typeface="DejaVu Sans"/>
                <a:cs typeface="DejaVu Sans"/>
              </a:defRPr>
            </a:pPr>
            <a:r>
              <a:rPr sz="1275" b="1">
                <a:solidFill>
                  <a:srgbClr val="111111"/>
                </a:solidFill>
                <a:latin typeface="DejaVu Sans"/>
                <a:ea typeface="DejaVu Sans"/>
                <a:cs typeface="DejaVu Sans"/>
              </a:rPr>
              <a:t>05</a:t>
            </a:r>
          </a:p>
        </p:txBody>
      </p:sp>
      <p:sp>
        <p:nvSpPr>
          <p:cNvPr id="22" name="">
            <a:extLst xmlns:a="http://schemas.openxmlformats.org/drawingml/2006/main">
              <a:ext uri="{FF2B5EF4-FFF2-40B4-BE49-F238E27FC236}">
                <a16:creationId xmlns:a16="http://schemas.microsoft.com/office/drawing/2014/main" id="{6083C95E-9A6D-4928-B37A-F8F0B169CA99}"/>
              </a:ext>
            </a:extLst>
          </p:cNvPr>
          <p:cNvSpPr>
            <a:spLocks xmlns:a="http://schemas.openxmlformats.org/drawingml/2006/main" noGrp="1"/>
          </p:cNvSpPr>
          <p:nvPr/>
        </p:nvSpPr>
        <p:spPr>
          <a:xfrm xmlns:a="http://schemas.openxmlformats.org/drawingml/2006/main">
            <a:off x="7296150" y="3219450"/>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11111"/>
                </a:solidFill>
                <a:latin typeface="DejaVu Sans"/>
                <a:ea typeface="DejaVu Sans"/>
                <a:cs typeface="DejaVu Sans"/>
              </a:defRPr>
            </a:pPr>
            <a:r>
              <a:rPr sz="1800" b="1">
                <a:solidFill>
                  <a:srgbClr val="111111"/>
                </a:solidFill>
                <a:latin typeface="DejaVu Sans"/>
                <a:ea typeface="DejaVu Sans"/>
                <a:cs typeface="DejaVu Sans"/>
              </a:rPr>
              <a:t>Approve</a:t>
            </a:r>
          </a:p>
        </p:txBody>
      </p:sp>
      <p:sp>
        <p:nvSpPr>
          <p:cNvPr id="23" name="">
            <a:extLst xmlns:a="http://schemas.openxmlformats.org/drawingml/2006/main">
              <a:ext uri="{FF2B5EF4-FFF2-40B4-BE49-F238E27FC236}">
                <a16:creationId xmlns:a16="http://schemas.microsoft.com/office/drawing/2014/main" id="{FB02B0F5-B3F2-4B7A-9BAA-29083B65DB42}"/>
              </a:ext>
            </a:extLst>
          </p:cNvPr>
          <p:cNvSpPr>
            <a:spLocks xmlns:a="http://schemas.openxmlformats.org/drawingml/2006/main" noGrp="1"/>
          </p:cNvSpPr>
          <p:nvPr/>
        </p:nvSpPr>
        <p:spPr>
          <a:xfrm xmlns:a="http://schemas.openxmlformats.org/drawingml/2006/main">
            <a:off x="7296150" y="36099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Monday to Thursday, 09:00–17:00</a:t>
            </a:r>
          </a:p>
        </p:txBody>
      </p:sp>
      <p:sp>
        <p:nvSpPr>
          <p:cNvPr id="24" name="">
            <a:extLst xmlns:a="http://schemas.openxmlformats.org/drawingml/2006/main">
              <a:ext uri="{FF2B5EF4-FFF2-40B4-BE49-F238E27FC236}">
                <a16:creationId xmlns:a16="http://schemas.microsoft.com/office/drawing/2014/main" id="{A362EBB7-3C4F-416E-9B39-4DB87A775AC3}"/>
              </a:ext>
            </a:extLst>
          </p:cNvPr>
          <p:cNvSpPr>
            <a:spLocks xmlns:a="http://schemas.openxmlformats.org/drawingml/2006/main" noGrp="1"/>
          </p:cNvSpPr>
          <p:nvPr/>
        </p:nvSpPr>
        <p:spPr>
          <a:xfrm xmlns:a="http://schemas.openxmlformats.org/drawingml/2006/main">
            <a:off x="6477000" y="4543425"/>
            <a:ext cx="590550" cy="590550"/>
          </a:xfrm>
          <a:prstGeom xmlns:a="http://schemas.openxmlformats.org/drawingml/2006/main" prst="roundRect">
            <a:avLst>
              <a:gd name="adj" fmla="val 50000"/>
            </a:avLst>
          </a:prstGeom>
          <a:solidFill xmlns:a="http://schemas.openxmlformats.org/drawingml/2006/main">
            <a:srgbClr val="DDF4EC"/>
          </a:solidFill>
          <a:ln xmlns:a="http://schemas.openxmlformats.org/drawingml/2006/main" w="9525">
            <a:solidFill>
              <a:srgbClr val="10A37F"/>
            </a:solidFill>
          </a:ln>
        </p:spPr>
      </p:sp>
      <p:sp>
        <p:nvSpPr>
          <p:cNvPr id="25" name="">
            <a:extLst xmlns:a="http://schemas.openxmlformats.org/drawingml/2006/main">
              <a:ext uri="{FF2B5EF4-FFF2-40B4-BE49-F238E27FC236}">
                <a16:creationId xmlns:a16="http://schemas.microsoft.com/office/drawing/2014/main" id="{7365C47E-8881-4F41-8998-87805FB1C5C7}"/>
              </a:ext>
            </a:extLst>
          </p:cNvPr>
          <p:cNvSpPr>
            <a:spLocks xmlns:a="http://schemas.openxmlformats.org/drawingml/2006/main" noGrp="1"/>
          </p:cNvSpPr>
          <p:nvPr/>
        </p:nvSpPr>
        <p:spPr>
          <a:xfrm xmlns:a="http://schemas.openxmlformats.org/drawingml/2006/main">
            <a:off x="6572250" y="4695825"/>
            <a:ext cx="400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ctr">
              <a:defRPr sz="1275" b="1">
                <a:solidFill>
                  <a:srgbClr val="10A37F"/>
                </a:solidFill>
                <a:latin typeface="DejaVu Sans"/>
                <a:ea typeface="DejaVu Sans"/>
                <a:cs typeface="DejaVu Sans"/>
              </a:defRPr>
            </a:pPr>
            <a:r>
              <a:rPr sz="1275" b="1">
                <a:solidFill>
                  <a:srgbClr val="10A37F"/>
                </a:solidFill>
                <a:latin typeface="DejaVu Sans"/>
                <a:ea typeface="DejaVu Sans"/>
                <a:cs typeface="DejaVu Sans"/>
              </a:rPr>
              <a:t>06</a:t>
            </a:r>
          </a:p>
        </p:txBody>
      </p:sp>
      <p:sp>
        <p:nvSpPr>
          <p:cNvPr id="26" name="">
            <a:extLst xmlns:a="http://schemas.openxmlformats.org/drawingml/2006/main">
              <a:ext uri="{FF2B5EF4-FFF2-40B4-BE49-F238E27FC236}">
                <a16:creationId xmlns:a16="http://schemas.microsoft.com/office/drawing/2014/main" id="{AD416C43-8103-407D-A1E2-469BC56E4160}"/>
              </a:ext>
            </a:extLst>
          </p:cNvPr>
          <p:cNvSpPr>
            <a:spLocks xmlns:a="http://schemas.openxmlformats.org/drawingml/2006/main" noGrp="1"/>
          </p:cNvSpPr>
          <p:nvPr/>
        </p:nvSpPr>
        <p:spPr>
          <a:xfrm xmlns:a="http://schemas.openxmlformats.org/drawingml/2006/main">
            <a:off x="7296150" y="4524375"/>
            <a:ext cx="3714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778"/>
          </a:bodyPr>
          <a:lstStyle xmlns:a="http://schemas.openxmlformats.org/drawingml/2006/main"/>
          <a:p xmlns:a="http://schemas.openxmlformats.org/drawingml/2006/main">
            <a:pPr algn="l">
              <a:defRPr sz="1800" b="1">
                <a:solidFill>
                  <a:srgbClr val="10A37F"/>
                </a:solidFill>
                <a:latin typeface="DejaVu Sans"/>
                <a:ea typeface="DejaVu Sans"/>
                <a:cs typeface="DejaVu Sans"/>
              </a:defRPr>
            </a:pPr>
            <a:r>
              <a:rPr sz="1800" b="1">
                <a:solidFill>
                  <a:srgbClr val="10A37F"/>
                </a:solidFill>
                <a:latin typeface="DejaVu Sans"/>
                <a:ea typeface="DejaVu Sans"/>
                <a:cs typeface="DejaVu Sans"/>
              </a:rPr>
              <a:t>Verify</a:t>
            </a:r>
          </a:p>
        </p:txBody>
      </p:sp>
      <p:sp>
        <p:nvSpPr>
          <p:cNvPr id="27" name="">
            <a:extLst xmlns:a="http://schemas.openxmlformats.org/drawingml/2006/main">
              <a:ext uri="{FF2B5EF4-FFF2-40B4-BE49-F238E27FC236}">
                <a16:creationId xmlns:a16="http://schemas.microsoft.com/office/drawing/2014/main" id="{986A0BB4-ECC9-470E-8CD2-0392F1CC4695}"/>
              </a:ext>
            </a:extLst>
          </p:cNvPr>
          <p:cNvSpPr>
            <a:spLocks xmlns:a="http://schemas.openxmlformats.org/drawingml/2006/main" noGrp="1"/>
          </p:cNvSpPr>
          <p:nvPr/>
        </p:nvSpPr>
        <p:spPr>
          <a:xfrm xmlns:a="http://schemas.openxmlformats.org/drawingml/2006/main">
            <a:off x="7296150" y="4914900"/>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The retest returns available slots</a:t>
            </a:r>
          </a:p>
        </p:txBody>
      </p:sp>
      <p:sp>
        <p:nvSpPr>
          <p:cNvPr id="28" name="">
            <a:extLst xmlns:a="http://schemas.openxmlformats.org/drawingml/2006/main">
              <a:ext uri="{FF2B5EF4-FFF2-40B4-BE49-F238E27FC236}">
                <a16:creationId xmlns:a16="http://schemas.microsoft.com/office/drawing/2014/main" id="{52E2ED8F-077A-4D39-9C11-95A06FAAFF11}"/>
              </a:ext>
            </a:extLst>
          </p:cNvPr>
          <p:cNvSpPr>
            <a:spLocks xmlns:a="http://schemas.openxmlformats.org/drawingml/2006/main" noGrp="1"/>
          </p:cNvSpPr>
          <p:nvPr/>
        </p:nvSpPr>
        <p:spPr>
          <a:xfrm xmlns:a="http://schemas.openxmlformats.org/drawingml/2006/main">
            <a:off x="685800" y="64579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67"/>
          </a:bodyPr>
          <a:lstStyle xmlns:a="http://schemas.openxmlformats.org/drawingml/2006/main"/>
          <a:p xmlns:a="http://schemas.openxmlformats.org/drawingml/2006/main">
            <a:pPr algn="l">
              <a:defRPr sz="750" b="0">
                <a:solidFill>
                  <a:srgbClr val="777772"/>
                </a:solidFill>
                <a:latin typeface="DejaVu Sans"/>
                <a:ea typeface="DejaVu Sans"/>
                <a:cs typeface="DejaVu Sans"/>
              </a:defRPr>
            </a:pPr>
            <a:r>
              <a:rPr sz="750" b="0">
                <a:solidFill>
                  <a:srgbClr val="777772"/>
                </a:solidFill>
                <a:latin typeface="DejaVu Sans"/>
                <a:ea typeface="DejaVu Sans"/>
                <a:cs typeface="DejaVu Sans"/>
              </a:rPr>
              <a:t>JustAsk   05</a:t>
            </a:r>
          </a:p>
        </p:txBody>
      </p:sp>
    </p:spTree>
    <p:extLst>
      <p:ext uri="{BB962C8B-B14F-4D97-AF65-F5344CB8AC3E}">
        <p14:creationId xmlns:p14="http://schemas.microsoft.com/office/powerpoint/2010/main" val="1232529135"/>
      </p:ext>
    </p:extLst>
  </p:cSld>
</p:sld>
</file>

<file path=ppt/slides/slide6.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013B0C6-9AE2-4843-93D8-EF3AA405D476}"/>
              </a:ext>
            </a:extLst>
          </p:cNvPr>
          <p:cNvSpPr>
            <a:spLocks xmlns:a="http://schemas.openxmlformats.org/drawingml/2006/main" noGrp="1"/>
          </p:cNvSpPr>
          <p:nvPr/>
        </p:nvSpPr>
        <p:spPr>
          <a:xfrm xmlns:a="http://schemas.openxmlformats.org/drawingml/2006/main">
            <a:off x="685800" y="438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111"/>
                </a:solidFill>
                <a:latin typeface="DejaVu Sans"/>
                <a:ea typeface="DejaVu Sans"/>
                <a:cs typeface="DejaVu Sans"/>
              </a:defRPr>
            </a:pPr>
            <a:r>
              <a:rPr sz="2550" b="1">
                <a:solidFill>
                  <a:srgbClr val="111111"/>
                </a:solidFill>
                <a:latin typeface="DejaVu Sans"/>
                <a:ea typeface="DejaVu Sans"/>
                <a:cs typeface="DejaVu Sans"/>
              </a:rPr>
              <a:t>Safe context and actions</a:t>
            </a:r>
          </a:p>
        </p:txBody>
      </p:sp>
      <p:sp>
        <p:nvSpPr>
          <p:cNvPr id="2" name="">
            <a:extLst xmlns:a="http://schemas.openxmlformats.org/drawingml/2006/main">
              <a:ext uri="{FF2B5EF4-FFF2-40B4-BE49-F238E27FC236}">
                <a16:creationId xmlns:a16="http://schemas.microsoft.com/office/drawing/2014/main" id="{BD2BE200-E16A-4F46-986F-3142774664AC}"/>
              </a:ext>
            </a:extLst>
          </p:cNvPr>
          <p:cNvSpPr>
            <a:spLocks xmlns:a="http://schemas.openxmlformats.org/drawingml/2006/main" noGrp="1"/>
          </p:cNvSpPr>
          <p:nvPr/>
        </p:nvSpPr>
        <p:spPr>
          <a:xfrm xmlns:a="http://schemas.openxmlformats.org/drawingml/2006/main">
            <a:off x="685800" y="1104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The website exposes only what JustAsk needs.</a:t>
            </a:r>
          </a:p>
        </p:txBody>
      </p:sp>
      <p:sp>
        <p:nvSpPr>
          <p:cNvPr id="3" name="">
            <a:extLst xmlns:a="http://schemas.openxmlformats.org/drawingml/2006/main">
              <a:ext uri="{FF2B5EF4-FFF2-40B4-BE49-F238E27FC236}">
                <a16:creationId xmlns:a16="http://schemas.microsoft.com/office/drawing/2014/main" id="{007B3145-A157-45BA-9C2A-FD4979C6AA89}"/>
              </a:ext>
            </a:extLst>
          </p:cNvPr>
          <p:cNvSpPr>
            <a:spLocks xmlns:a="http://schemas.openxmlformats.org/drawingml/2006/main" noGrp="1"/>
          </p:cNvSpPr>
          <p:nvPr/>
        </p:nvSpPr>
        <p:spPr>
          <a:xfrm xmlns:a="http://schemas.openxmlformats.org/drawingml/2006/main">
            <a:off x="685800" y="1524000"/>
            <a:ext cx="495300" cy="38100"/>
          </a:xfrm>
          <a:prstGeom xmlns:a="http://schemas.openxmlformats.org/drawingml/2006/main" prst="roundRect">
            <a:avLst>
              <a:gd name="adj" fmla="val 50000"/>
            </a:avLst>
          </a:prstGeom>
          <a:solidFill xmlns:a="http://schemas.openxmlformats.org/drawingml/2006/main">
            <a:srgbClr val="10A37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AC09BC-C2A2-4844-9799-0D33897E0B0B}"/>
              </a:ext>
            </a:extLst>
          </p:cNvPr>
          <p:cNvSpPr>
            <a:spLocks xmlns:a="http://schemas.openxmlformats.org/drawingml/2006/main" noGrp="1"/>
          </p:cNvSpPr>
          <p:nvPr/>
        </p:nvSpPr>
        <p:spPr>
          <a:xfrm xmlns:a="http://schemas.openxmlformats.org/drawingml/2006/main">
            <a:off x="800100" y="1828800"/>
            <a:ext cx="10572750" cy="876300"/>
          </a:xfrm>
          <a:prstGeom xmlns:a="http://schemas.openxmlformats.org/drawingml/2006/main" prst="roundRect">
            <a:avLst>
              <a:gd name="adj" fmla="val 19565"/>
            </a:avLst>
          </a:prstGeom>
          <a:solidFill xmlns:a="http://schemas.openxmlformats.org/drawingml/2006/main">
            <a:srgbClr val="F6E9BD"/>
          </a:solidFill>
          <a:ln xmlns:a="http://schemas.openxmlformats.org/drawingml/2006/main" w="9525">
            <a:solidFill>
              <a:srgbClr val="D8D8D2"/>
            </a:solidFill>
          </a:ln>
        </p:spPr>
      </p:sp>
      <p:sp>
        <p:nvSpPr>
          <p:cNvPr id="5" name="">
            <a:extLst xmlns:a="http://schemas.openxmlformats.org/drawingml/2006/main">
              <a:ext uri="{FF2B5EF4-FFF2-40B4-BE49-F238E27FC236}">
                <a16:creationId xmlns:a16="http://schemas.microsoft.com/office/drawing/2014/main" id="{B8294DD0-77BB-4C42-AA83-A9C209A271F2}"/>
              </a:ext>
            </a:extLst>
          </p:cNvPr>
          <p:cNvSpPr>
            <a:spLocks xmlns:a="http://schemas.openxmlformats.org/drawingml/2006/main" noGrp="1"/>
          </p:cNvSpPr>
          <p:nvPr/>
        </p:nvSpPr>
        <p:spPr>
          <a:xfrm xmlns:a="http://schemas.openxmlformats.org/drawingml/2006/main">
            <a:off x="1028700" y="2066925"/>
            <a:ext cx="42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087A60"/>
                </a:solidFill>
                <a:latin typeface="DejaVu Sans"/>
                <a:ea typeface="DejaVu Sans"/>
                <a:cs typeface="DejaVu Sans"/>
              </a:defRPr>
            </a:pPr>
            <a:r>
              <a:rPr sz="1650" b="1">
                <a:solidFill>
                  <a:srgbClr val="087A60"/>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FAEB0BE6-021A-41E1-8239-391BEAD31FA9}"/>
              </a:ext>
            </a:extLst>
          </p:cNvPr>
          <p:cNvSpPr>
            <a:spLocks xmlns:a="http://schemas.openxmlformats.org/drawingml/2006/main" noGrp="1"/>
          </p:cNvSpPr>
          <p:nvPr/>
        </p:nvSpPr>
        <p:spPr>
          <a:xfrm xmlns:a="http://schemas.openxmlformats.org/drawingml/2006/main">
            <a:off x="1724025" y="20002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Page context</a:t>
            </a:r>
          </a:p>
        </p:txBody>
      </p:sp>
      <p:sp>
        <p:nvSpPr>
          <p:cNvPr id="7" name="">
            <a:extLst xmlns:a="http://schemas.openxmlformats.org/drawingml/2006/main">
              <a:ext uri="{FF2B5EF4-FFF2-40B4-BE49-F238E27FC236}">
                <a16:creationId xmlns:a16="http://schemas.microsoft.com/office/drawing/2014/main" id="{102CC688-6344-449F-A91E-22FA625ED12C}"/>
              </a:ext>
            </a:extLst>
          </p:cNvPr>
          <p:cNvSpPr>
            <a:spLocks xmlns:a="http://schemas.openxmlformats.org/drawingml/2006/main" noGrp="1"/>
          </p:cNvSpPr>
          <p:nvPr/>
        </p:nvSpPr>
        <p:spPr>
          <a:xfrm xmlns:a="http://schemas.openxmlformats.org/drawingml/2006/main">
            <a:off x="4695825" y="2038350"/>
            <a:ext cx="6238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D4D49"/>
                </a:solidFill>
                <a:latin typeface="DejaVu Sans"/>
                <a:ea typeface="DejaVu Sans"/>
                <a:cs typeface="DejaVu Sans"/>
              </a:defRPr>
            </a:pPr>
            <a:r>
              <a:rPr sz="1350" b="0">
                <a:solidFill>
                  <a:srgbClr val="4D4D49"/>
                </a:solidFill>
                <a:latin typeface="DejaVu Sans"/>
                <a:ea typeface="DejaVu Sans"/>
                <a:cs typeface="DejaVu Sans"/>
              </a:rPr>
              <a:t>Route, selected service, staff member and visible state</a:t>
            </a:r>
          </a:p>
        </p:txBody>
      </p:sp>
      <p:sp>
        <p:nvSpPr>
          <p:cNvPr id="8" name="">
            <a:extLst xmlns:a="http://schemas.openxmlformats.org/drawingml/2006/main">
              <a:ext uri="{FF2B5EF4-FFF2-40B4-BE49-F238E27FC236}">
                <a16:creationId xmlns:a16="http://schemas.microsoft.com/office/drawing/2014/main" id="{64B630A1-36D1-46A8-A6D0-CD375034D713}"/>
              </a:ext>
            </a:extLst>
          </p:cNvPr>
          <p:cNvSpPr>
            <a:spLocks xmlns:a="http://schemas.openxmlformats.org/drawingml/2006/main" noGrp="1"/>
          </p:cNvSpPr>
          <p:nvPr/>
        </p:nvSpPr>
        <p:spPr>
          <a:xfrm xmlns:a="http://schemas.openxmlformats.org/drawingml/2006/main">
            <a:off x="800100" y="2857500"/>
            <a:ext cx="10572750" cy="876300"/>
          </a:xfrm>
          <a:prstGeom xmlns:a="http://schemas.openxmlformats.org/drawingml/2006/main" prst="roundRect">
            <a:avLst>
              <a:gd name="adj" fmla="val 19565"/>
            </a:avLst>
          </a:prstGeom>
          <a:solidFill xmlns:a="http://schemas.openxmlformats.org/drawingml/2006/main">
            <a:srgbClr val="EEE9E1"/>
          </a:solidFill>
          <a:ln xmlns:a="http://schemas.openxmlformats.org/drawingml/2006/main" w="9525">
            <a:solidFill>
              <a:srgbClr val="D8D8D2"/>
            </a:solidFill>
          </a:ln>
        </p:spPr>
      </p:sp>
      <p:sp>
        <p:nvSpPr>
          <p:cNvPr id="9" name="">
            <a:extLst xmlns:a="http://schemas.openxmlformats.org/drawingml/2006/main">
              <a:ext uri="{FF2B5EF4-FFF2-40B4-BE49-F238E27FC236}">
                <a16:creationId xmlns:a16="http://schemas.microsoft.com/office/drawing/2014/main" id="{F4B46A97-C64B-4339-808C-D41C2FCCC7F9}"/>
              </a:ext>
            </a:extLst>
          </p:cNvPr>
          <p:cNvSpPr>
            <a:spLocks xmlns:a="http://schemas.openxmlformats.org/drawingml/2006/main" noGrp="1"/>
          </p:cNvSpPr>
          <p:nvPr/>
        </p:nvSpPr>
        <p:spPr>
          <a:xfrm xmlns:a="http://schemas.openxmlformats.org/drawingml/2006/main">
            <a:off x="1028700" y="3095625"/>
            <a:ext cx="42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087A60"/>
                </a:solidFill>
                <a:latin typeface="DejaVu Sans"/>
                <a:ea typeface="DejaVu Sans"/>
                <a:cs typeface="DejaVu Sans"/>
              </a:defRPr>
            </a:pPr>
            <a:r>
              <a:rPr sz="1650" b="1">
                <a:solidFill>
                  <a:srgbClr val="087A60"/>
                </a:solidFill>
                <a:latin typeface="DejaVu Sans"/>
                <a:ea typeface="DejaVu Sans"/>
                <a:cs typeface="DejaVu Sans"/>
              </a:rPr>
              <a:t>2</a:t>
            </a:r>
          </a:p>
        </p:txBody>
      </p:sp>
      <p:sp>
        <p:nvSpPr>
          <p:cNvPr id="10" name="">
            <a:extLst xmlns:a="http://schemas.openxmlformats.org/drawingml/2006/main">
              <a:ext uri="{FF2B5EF4-FFF2-40B4-BE49-F238E27FC236}">
                <a16:creationId xmlns:a16="http://schemas.microsoft.com/office/drawing/2014/main" id="{A3B7047C-4923-4604-B544-7B0CF713DB5B}"/>
              </a:ext>
            </a:extLst>
          </p:cNvPr>
          <p:cNvSpPr>
            <a:spLocks xmlns:a="http://schemas.openxmlformats.org/drawingml/2006/main" noGrp="1"/>
          </p:cNvSpPr>
          <p:nvPr/>
        </p:nvSpPr>
        <p:spPr>
          <a:xfrm xmlns:a="http://schemas.openxmlformats.org/drawingml/2006/main">
            <a:off x="1724025" y="30289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Customer test</a:t>
            </a:r>
          </a:p>
        </p:txBody>
      </p:sp>
      <p:sp>
        <p:nvSpPr>
          <p:cNvPr id="11" name="">
            <a:extLst xmlns:a="http://schemas.openxmlformats.org/drawingml/2006/main">
              <a:ext uri="{FF2B5EF4-FFF2-40B4-BE49-F238E27FC236}">
                <a16:creationId xmlns:a16="http://schemas.microsoft.com/office/drawing/2014/main" id="{4F758B92-919C-4091-83EC-E70531BA953B}"/>
              </a:ext>
            </a:extLst>
          </p:cNvPr>
          <p:cNvSpPr>
            <a:spLocks xmlns:a="http://schemas.openxmlformats.org/drawingml/2006/main" noGrp="1"/>
          </p:cNvSpPr>
          <p:nvPr/>
        </p:nvSpPr>
        <p:spPr>
          <a:xfrm xmlns:a="http://schemas.openxmlformats.org/drawingml/2006/main">
            <a:off x="4695825" y="3067050"/>
            <a:ext cx="6238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D4D49"/>
                </a:solidFill>
                <a:latin typeface="DejaVu Sans"/>
                <a:ea typeface="DejaVu Sans"/>
                <a:cs typeface="DejaVu Sans"/>
              </a:defRPr>
            </a:pPr>
            <a:r>
              <a:rPr sz="1350" b="0">
                <a:solidFill>
                  <a:srgbClr val="4D4D49"/>
                </a:solidFill>
                <a:latin typeface="DejaVu Sans"/>
                <a:ea typeface="DejaVu Sans"/>
                <a:cs typeface="DejaVu Sans"/>
              </a:rPr>
              <a:t>Reproduce the journey through a registered tool</a:t>
            </a:r>
          </a:p>
        </p:txBody>
      </p:sp>
      <p:sp>
        <p:nvSpPr>
          <p:cNvPr id="12" name="">
            <a:extLst xmlns:a="http://schemas.openxmlformats.org/drawingml/2006/main">
              <a:ext uri="{FF2B5EF4-FFF2-40B4-BE49-F238E27FC236}">
                <a16:creationId xmlns:a16="http://schemas.microsoft.com/office/drawing/2014/main" id="{0598AEA1-3E13-4E0E-89E2-7E0B7006464D}"/>
              </a:ext>
            </a:extLst>
          </p:cNvPr>
          <p:cNvSpPr>
            <a:spLocks xmlns:a="http://schemas.openxmlformats.org/drawingml/2006/main" noGrp="1"/>
          </p:cNvSpPr>
          <p:nvPr/>
        </p:nvSpPr>
        <p:spPr>
          <a:xfrm xmlns:a="http://schemas.openxmlformats.org/drawingml/2006/main">
            <a:off x="800100" y="3886200"/>
            <a:ext cx="10572750" cy="876300"/>
          </a:xfrm>
          <a:prstGeom xmlns:a="http://schemas.openxmlformats.org/drawingml/2006/main" prst="roundRect">
            <a:avLst>
              <a:gd name="adj" fmla="val 19565"/>
            </a:avLst>
          </a:prstGeom>
          <a:solidFill xmlns:a="http://schemas.openxmlformats.org/drawingml/2006/main">
            <a:srgbClr val="DDF4EC"/>
          </a:solidFill>
          <a:ln xmlns:a="http://schemas.openxmlformats.org/drawingml/2006/main" w="9525">
            <a:solidFill>
              <a:srgbClr val="D8D8D2"/>
            </a:solidFill>
          </a:ln>
        </p:spPr>
      </p:sp>
      <p:sp>
        <p:nvSpPr>
          <p:cNvPr id="13" name="">
            <a:extLst xmlns:a="http://schemas.openxmlformats.org/drawingml/2006/main">
              <a:ext uri="{FF2B5EF4-FFF2-40B4-BE49-F238E27FC236}">
                <a16:creationId xmlns:a16="http://schemas.microsoft.com/office/drawing/2014/main" id="{CF4376FF-8E85-4611-B877-16FAA2DA304E}"/>
              </a:ext>
            </a:extLst>
          </p:cNvPr>
          <p:cNvSpPr>
            <a:spLocks xmlns:a="http://schemas.openxmlformats.org/drawingml/2006/main" noGrp="1"/>
          </p:cNvSpPr>
          <p:nvPr/>
        </p:nvSpPr>
        <p:spPr>
          <a:xfrm xmlns:a="http://schemas.openxmlformats.org/drawingml/2006/main">
            <a:off x="1028700" y="4124325"/>
            <a:ext cx="42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087A60"/>
                </a:solidFill>
                <a:latin typeface="DejaVu Sans"/>
                <a:ea typeface="DejaVu Sans"/>
                <a:cs typeface="DejaVu Sans"/>
              </a:defRPr>
            </a:pPr>
            <a:r>
              <a:rPr sz="1650" b="1">
                <a:solidFill>
                  <a:srgbClr val="087A60"/>
                </a:solidFill>
                <a:latin typeface="DejaVu Sans"/>
                <a:ea typeface="DejaVu Sans"/>
                <a:cs typeface="DejaVu Sans"/>
              </a:rPr>
              <a:t>3</a:t>
            </a:r>
          </a:p>
        </p:txBody>
      </p:sp>
      <p:sp>
        <p:nvSpPr>
          <p:cNvPr id="14" name="">
            <a:extLst xmlns:a="http://schemas.openxmlformats.org/drawingml/2006/main">
              <a:ext uri="{FF2B5EF4-FFF2-40B4-BE49-F238E27FC236}">
                <a16:creationId xmlns:a16="http://schemas.microsoft.com/office/drawing/2014/main" id="{B5CB0A0C-9927-4F97-B93B-0C20952EAEAF}"/>
              </a:ext>
            </a:extLst>
          </p:cNvPr>
          <p:cNvSpPr>
            <a:spLocks xmlns:a="http://schemas.openxmlformats.org/drawingml/2006/main" noGrp="1"/>
          </p:cNvSpPr>
          <p:nvPr/>
        </p:nvSpPr>
        <p:spPr>
          <a:xfrm xmlns:a="http://schemas.openxmlformats.org/drawingml/2006/main">
            <a:off x="1724025" y="40576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Business explanation</a:t>
            </a:r>
          </a:p>
        </p:txBody>
      </p:sp>
      <p:sp>
        <p:nvSpPr>
          <p:cNvPr id="15" name="">
            <a:extLst xmlns:a="http://schemas.openxmlformats.org/drawingml/2006/main">
              <a:ext uri="{FF2B5EF4-FFF2-40B4-BE49-F238E27FC236}">
                <a16:creationId xmlns:a16="http://schemas.microsoft.com/office/drawing/2014/main" id="{97525B5F-FA6E-4E50-970E-16D8B168583B}"/>
              </a:ext>
            </a:extLst>
          </p:cNvPr>
          <p:cNvSpPr>
            <a:spLocks xmlns:a="http://schemas.openxmlformats.org/drawingml/2006/main" noGrp="1"/>
          </p:cNvSpPr>
          <p:nvPr/>
        </p:nvSpPr>
        <p:spPr>
          <a:xfrm xmlns:a="http://schemas.openxmlformats.org/drawingml/2006/main">
            <a:off x="4695825" y="4095750"/>
            <a:ext cx="6238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D4D49"/>
                </a:solidFill>
                <a:latin typeface="DejaVu Sans"/>
                <a:ea typeface="DejaVu Sans"/>
                <a:cs typeface="DejaVu Sans"/>
              </a:defRPr>
            </a:pPr>
            <a:r>
              <a:rPr sz="1350" b="0">
                <a:solidFill>
                  <a:srgbClr val="4D4D49"/>
                </a:solidFill>
                <a:latin typeface="DejaVu Sans"/>
                <a:ea typeface="DejaVu Sans"/>
                <a:cs typeface="DejaVu Sans"/>
              </a:rPr>
              <a:t>Translate the technical cause and show evidence</a:t>
            </a:r>
          </a:p>
        </p:txBody>
      </p:sp>
      <p:sp>
        <p:nvSpPr>
          <p:cNvPr id="16" name="">
            <a:extLst xmlns:a="http://schemas.openxmlformats.org/drawingml/2006/main">
              <a:ext uri="{FF2B5EF4-FFF2-40B4-BE49-F238E27FC236}">
                <a16:creationId xmlns:a16="http://schemas.microsoft.com/office/drawing/2014/main" id="{ED3CFF29-2244-44D7-84A3-29478873341D}"/>
              </a:ext>
            </a:extLst>
          </p:cNvPr>
          <p:cNvSpPr>
            <a:spLocks xmlns:a="http://schemas.openxmlformats.org/drawingml/2006/main" noGrp="1"/>
          </p:cNvSpPr>
          <p:nvPr/>
        </p:nvSpPr>
        <p:spPr>
          <a:xfrm xmlns:a="http://schemas.openxmlformats.org/drawingml/2006/main">
            <a:off x="800100" y="4914900"/>
            <a:ext cx="10572750" cy="876300"/>
          </a:xfrm>
          <a:prstGeom xmlns:a="http://schemas.openxmlformats.org/drawingml/2006/main" prst="roundRect">
            <a:avLst>
              <a:gd name="adj" fmla="val 19565"/>
            </a:avLst>
          </a:prstGeom>
          <a:solidFill xmlns:a="http://schemas.openxmlformats.org/drawingml/2006/main">
            <a:srgbClr val="FFFFFF"/>
          </a:solidFill>
          <a:ln xmlns:a="http://schemas.openxmlformats.org/drawingml/2006/main" w="9525">
            <a:solidFill>
              <a:srgbClr val="D8D8D2"/>
            </a:solidFill>
          </a:ln>
        </p:spPr>
      </p:sp>
      <p:sp>
        <p:nvSpPr>
          <p:cNvPr id="17" name="">
            <a:extLst xmlns:a="http://schemas.openxmlformats.org/drawingml/2006/main">
              <a:ext uri="{FF2B5EF4-FFF2-40B4-BE49-F238E27FC236}">
                <a16:creationId xmlns:a16="http://schemas.microsoft.com/office/drawing/2014/main" id="{2FC21BC5-B35A-44B5-B25F-BD1BC1B62CE9}"/>
              </a:ext>
            </a:extLst>
          </p:cNvPr>
          <p:cNvSpPr>
            <a:spLocks xmlns:a="http://schemas.openxmlformats.org/drawingml/2006/main" noGrp="1"/>
          </p:cNvSpPr>
          <p:nvPr/>
        </p:nvSpPr>
        <p:spPr>
          <a:xfrm xmlns:a="http://schemas.openxmlformats.org/drawingml/2006/main">
            <a:off x="1028700" y="5153025"/>
            <a:ext cx="428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087A60"/>
                </a:solidFill>
                <a:latin typeface="DejaVu Sans"/>
                <a:ea typeface="DejaVu Sans"/>
                <a:cs typeface="DejaVu Sans"/>
              </a:defRPr>
            </a:pPr>
            <a:r>
              <a:rPr sz="1650" b="1">
                <a:solidFill>
                  <a:srgbClr val="087A60"/>
                </a:solidFill>
                <a:latin typeface="DejaVu Sans"/>
                <a:ea typeface="DejaVu Sans"/>
                <a:cs typeface="DejaVu Sans"/>
              </a:rPr>
              <a:t>4</a:t>
            </a:r>
          </a:p>
        </p:txBody>
      </p:sp>
      <p:sp>
        <p:nvSpPr>
          <p:cNvPr id="18" name="">
            <a:extLst xmlns:a="http://schemas.openxmlformats.org/drawingml/2006/main">
              <a:ext uri="{FF2B5EF4-FFF2-40B4-BE49-F238E27FC236}">
                <a16:creationId xmlns:a16="http://schemas.microsoft.com/office/drawing/2014/main" id="{270E304B-5398-4365-9E21-4C388A7AAA46}"/>
              </a:ext>
            </a:extLst>
          </p:cNvPr>
          <p:cNvSpPr>
            <a:spLocks xmlns:a="http://schemas.openxmlformats.org/drawingml/2006/main" noGrp="1"/>
          </p:cNvSpPr>
          <p:nvPr/>
        </p:nvSpPr>
        <p:spPr>
          <a:xfrm xmlns:a="http://schemas.openxmlformats.org/drawingml/2006/main">
            <a:off x="1724025" y="5086350"/>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59"/>
          </a:bodyPr>
          <a:lstStyle xmlns:a="http://schemas.openxmlformats.org/drawingml/2006/main"/>
          <a:p xmlns:a="http://schemas.openxmlformats.org/drawingml/2006/main">
            <a:pPr algn="l">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Approved repair</a:t>
            </a:r>
          </a:p>
        </p:txBody>
      </p:sp>
      <p:sp>
        <p:nvSpPr>
          <p:cNvPr id="19" name="">
            <a:extLst xmlns:a="http://schemas.openxmlformats.org/drawingml/2006/main">
              <a:ext uri="{FF2B5EF4-FFF2-40B4-BE49-F238E27FC236}">
                <a16:creationId xmlns:a16="http://schemas.microsoft.com/office/drawing/2014/main" id="{D17F2FAA-902F-4686-8C75-A9ECCF78A988}"/>
              </a:ext>
            </a:extLst>
          </p:cNvPr>
          <p:cNvSpPr>
            <a:spLocks xmlns:a="http://schemas.openxmlformats.org/drawingml/2006/main" noGrp="1"/>
          </p:cNvSpPr>
          <p:nvPr/>
        </p:nvSpPr>
        <p:spPr>
          <a:xfrm xmlns:a="http://schemas.openxmlformats.org/drawingml/2006/main">
            <a:off x="4695825" y="5124450"/>
            <a:ext cx="6238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4D4D49"/>
                </a:solidFill>
                <a:latin typeface="DejaVu Sans"/>
                <a:ea typeface="DejaVu Sans"/>
                <a:cs typeface="DejaVu Sans"/>
              </a:defRPr>
            </a:pPr>
            <a:r>
              <a:rPr sz="1350" b="0">
                <a:solidFill>
                  <a:srgbClr val="4D4D49"/>
                </a:solidFill>
                <a:latin typeface="DejaVu Sans"/>
                <a:ea typeface="DejaVu Sans"/>
                <a:cs typeface="DejaVu Sans"/>
              </a:rPr>
              <a:t>Apply one whitelisted change, then run the same test</a:t>
            </a:r>
          </a:p>
        </p:txBody>
      </p:sp>
      <p:sp>
        <p:nvSpPr>
          <p:cNvPr id="20" name="">
            <a:extLst xmlns:a="http://schemas.openxmlformats.org/drawingml/2006/main">
              <a:ext uri="{FF2B5EF4-FFF2-40B4-BE49-F238E27FC236}">
                <a16:creationId xmlns:a16="http://schemas.microsoft.com/office/drawing/2014/main" id="{7C84D7AB-748F-4C93-81F2-45D26D8BB4BB}"/>
              </a:ext>
            </a:extLst>
          </p:cNvPr>
          <p:cNvSpPr>
            <a:spLocks xmlns:a="http://schemas.openxmlformats.org/drawingml/2006/main" noGrp="1"/>
          </p:cNvSpPr>
          <p:nvPr/>
        </p:nvSpPr>
        <p:spPr>
          <a:xfrm xmlns:a="http://schemas.openxmlformats.org/drawingml/2006/main">
            <a:off x="1409700" y="6048375"/>
            <a:ext cx="933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200" b="0">
                <a:solidFill>
                  <a:srgbClr val="777772"/>
                </a:solidFill>
                <a:latin typeface="DejaVu Sans"/>
                <a:ea typeface="DejaVu Sans"/>
                <a:cs typeface="DejaVu Sans"/>
              </a:defRPr>
            </a:pPr>
            <a:r>
              <a:rPr sz="1200" b="0">
                <a:solidFill>
                  <a:srgbClr val="777772"/>
                </a:solidFill>
                <a:latin typeface="DejaVu Sans"/>
                <a:ea typeface="DejaVu Sans"/>
                <a:cs typeface="DejaVu Sans"/>
              </a:rPr>
              <a:t>Credentials, payment details and customer data stay outside the diagnostic context.</a:t>
            </a:r>
          </a:p>
        </p:txBody>
      </p:sp>
      <p:sp>
        <p:nvSpPr>
          <p:cNvPr id="21" name="">
            <a:extLst xmlns:a="http://schemas.openxmlformats.org/drawingml/2006/main">
              <a:ext uri="{FF2B5EF4-FFF2-40B4-BE49-F238E27FC236}">
                <a16:creationId xmlns:a16="http://schemas.microsoft.com/office/drawing/2014/main" id="{FD999DCA-F535-478D-B5E2-7E5EE4A9CAB1}"/>
              </a:ext>
            </a:extLst>
          </p:cNvPr>
          <p:cNvSpPr>
            <a:spLocks xmlns:a="http://schemas.openxmlformats.org/drawingml/2006/main" noGrp="1"/>
          </p:cNvSpPr>
          <p:nvPr/>
        </p:nvSpPr>
        <p:spPr>
          <a:xfrm xmlns:a="http://schemas.openxmlformats.org/drawingml/2006/main">
            <a:off x="685800" y="64579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67"/>
          </a:bodyPr>
          <a:lstStyle xmlns:a="http://schemas.openxmlformats.org/drawingml/2006/main"/>
          <a:p xmlns:a="http://schemas.openxmlformats.org/drawingml/2006/main">
            <a:pPr algn="l">
              <a:defRPr sz="750" b="0">
                <a:solidFill>
                  <a:srgbClr val="777772"/>
                </a:solidFill>
                <a:latin typeface="DejaVu Sans"/>
                <a:ea typeface="DejaVu Sans"/>
                <a:cs typeface="DejaVu Sans"/>
              </a:defRPr>
            </a:pPr>
            <a:r>
              <a:rPr sz="750" b="0">
                <a:solidFill>
                  <a:srgbClr val="777772"/>
                </a:solidFill>
                <a:latin typeface="DejaVu Sans"/>
                <a:ea typeface="DejaVu Sans"/>
                <a:cs typeface="DejaVu Sans"/>
              </a:rPr>
              <a:t>JustAsk   06</a:t>
            </a:r>
          </a:p>
        </p:txBody>
      </p:sp>
    </p:spTree>
    <p:extLst>
      <p:ext uri="{BB962C8B-B14F-4D97-AF65-F5344CB8AC3E}">
        <p14:creationId xmlns:p14="http://schemas.microsoft.com/office/powerpoint/2010/main" val="496468748"/>
      </p:ext>
    </p:extLst>
  </p:cSld>
</p:sld>
</file>

<file path=ppt/slides/slide7.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EBC5AB1-4A08-4943-95D7-B312C993F0F9}"/>
              </a:ext>
            </a:extLst>
          </p:cNvPr>
          <p:cNvSpPr>
            <a:spLocks xmlns:a="http://schemas.openxmlformats.org/drawingml/2006/main" noGrp="1"/>
          </p:cNvSpPr>
          <p:nvPr/>
        </p:nvSpPr>
        <p:spPr>
          <a:xfrm xmlns:a="http://schemas.openxmlformats.org/drawingml/2006/main">
            <a:off x="685800" y="438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111"/>
                </a:solidFill>
                <a:latin typeface="DejaVu Sans"/>
                <a:ea typeface="DejaVu Sans"/>
                <a:cs typeface="DejaVu Sans"/>
              </a:defRPr>
            </a:pPr>
            <a:r>
              <a:rPr sz="2550" b="1">
                <a:solidFill>
                  <a:srgbClr val="111111"/>
                </a:solidFill>
                <a:latin typeface="DejaVu Sans"/>
                <a:ea typeface="DejaVu Sans"/>
                <a:cs typeface="DejaVu Sans"/>
              </a:rPr>
              <a:t>Sponsors in the workflow</a:t>
            </a:r>
          </a:p>
        </p:txBody>
      </p:sp>
      <p:sp>
        <p:nvSpPr>
          <p:cNvPr id="2" name="">
            <a:extLst xmlns:a="http://schemas.openxmlformats.org/drawingml/2006/main">
              <a:ext uri="{FF2B5EF4-FFF2-40B4-BE49-F238E27FC236}">
                <a16:creationId xmlns:a16="http://schemas.microsoft.com/office/drawing/2014/main" id="{E55B5F79-5313-445E-92FB-0991BF45CA18}"/>
              </a:ext>
            </a:extLst>
          </p:cNvPr>
          <p:cNvSpPr>
            <a:spLocks xmlns:a="http://schemas.openxmlformats.org/drawingml/2006/main" noGrp="1"/>
          </p:cNvSpPr>
          <p:nvPr/>
        </p:nvSpPr>
        <p:spPr>
          <a:xfrm xmlns:a="http://schemas.openxmlformats.org/drawingml/2006/main">
            <a:off x="685800" y="1104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Each integration powers one visible part of the experience.</a:t>
            </a:r>
          </a:p>
        </p:txBody>
      </p:sp>
      <p:sp>
        <p:nvSpPr>
          <p:cNvPr id="3" name="">
            <a:extLst xmlns:a="http://schemas.openxmlformats.org/drawingml/2006/main">
              <a:ext uri="{FF2B5EF4-FFF2-40B4-BE49-F238E27FC236}">
                <a16:creationId xmlns:a16="http://schemas.microsoft.com/office/drawing/2014/main" id="{282B969B-8A5C-46AB-BAF6-E22E2FF34386}"/>
              </a:ext>
            </a:extLst>
          </p:cNvPr>
          <p:cNvSpPr>
            <a:spLocks xmlns:a="http://schemas.openxmlformats.org/drawingml/2006/main" noGrp="1"/>
          </p:cNvSpPr>
          <p:nvPr/>
        </p:nvSpPr>
        <p:spPr>
          <a:xfrm xmlns:a="http://schemas.openxmlformats.org/drawingml/2006/main">
            <a:off x="685800" y="1524000"/>
            <a:ext cx="495300" cy="38100"/>
          </a:xfrm>
          <a:prstGeom xmlns:a="http://schemas.openxmlformats.org/drawingml/2006/main" prst="roundRect">
            <a:avLst>
              <a:gd name="adj" fmla="val 50000"/>
            </a:avLst>
          </a:prstGeom>
          <a:solidFill xmlns:a="http://schemas.openxmlformats.org/drawingml/2006/main">
            <a:srgbClr val="10A37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9586CA-98A0-4827-9014-8D8DDBF8609E}"/>
              </a:ext>
            </a:extLst>
          </p:cNvPr>
          <p:cNvSpPr>
            <a:spLocks xmlns:a="http://schemas.openxmlformats.org/drawingml/2006/main" noGrp="1"/>
          </p:cNvSpPr>
          <p:nvPr/>
        </p:nvSpPr>
        <p:spPr>
          <a:xfrm xmlns:a="http://schemas.openxmlformats.org/drawingml/2006/main">
            <a:off x="838200" y="1847850"/>
            <a:ext cx="10515600" cy="952500"/>
          </a:xfrm>
          <a:prstGeom xmlns:a="http://schemas.openxmlformats.org/drawingml/2006/main" prst="roundRect">
            <a:avLst>
              <a:gd name="adj" fmla="val 18000"/>
            </a:avLst>
          </a:prstGeom>
          <a:solidFill xmlns:a="http://schemas.openxmlformats.org/drawingml/2006/main">
            <a:srgbClr val="DDF4EC"/>
          </a:solidFill>
          <a:ln xmlns:a="http://schemas.openxmlformats.org/drawingml/2006/main" w="9525">
            <a:solidFill>
              <a:srgbClr val="D8D8D2"/>
            </a:solidFill>
          </a:ln>
        </p:spPr>
      </p:sp>
      <p:sp>
        <p:nvSpPr>
          <p:cNvPr id="5" name="">
            <a:extLst xmlns:a="http://schemas.openxmlformats.org/drawingml/2006/main">
              <a:ext uri="{FF2B5EF4-FFF2-40B4-BE49-F238E27FC236}">
                <a16:creationId xmlns:a16="http://schemas.microsoft.com/office/drawing/2014/main" id="{77A894F2-7A9D-4751-91D5-F8D5861124F1}"/>
              </a:ext>
            </a:extLst>
          </p:cNvPr>
          <p:cNvSpPr>
            <a:spLocks xmlns:a="http://schemas.openxmlformats.org/drawingml/2006/main" noGrp="1"/>
          </p:cNvSpPr>
          <p:nvPr/>
        </p:nvSpPr>
        <p:spPr>
          <a:xfrm xmlns:a="http://schemas.openxmlformats.org/drawingml/2006/main">
            <a:off x="1123950" y="202882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087A60"/>
                </a:solidFill>
                <a:latin typeface="DejaVu Sans"/>
                <a:ea typeface="DejaVu Sans"/>
                <a:cs typeface="DejaVu Sans"/>
              </a:defRPr>
            </a:pPr>
            <a:r>
              <a:rPr sz="975" b="1">
                <a:solidFill>
                  <a:srgbClr val="087A60"/>
                </a:solidFill>
                <a:latin typeface="DejaVu Sans"/>
                <a:ea typeface="DejaVu Sans"/>
                <a:cs typeface="DejaVu Sans"/>
              </a:rPr>
              <a:t>OPENAI</a:t>
            </a:r>
          </a:p>
        </p:txBody>
      </p:sp>
      <p:sp>
        <p:nvSpPr>
          <p:cNvPr id="6" name="">
            <a:extLst xmlns:a="http://schemas.openxmlformats.org/drawingml/2006/main">
              <a:ext uri="{FF2B5EF4-FFF2-40B4-BE49-F238E27FC236}">
                <a16:creationId xmlns:a16="http://schemas.microsoft.com/office/drawing/2014/main" id="{52EC06A7-4E0C-4A6F-A19C-319359E93FE1}"/>
              </a:ext>
            </a:extLst>
          </p:cNvPr>
          <p:cNvSpPr>
            <a:spLocks xmlns:a="http://schemas.openxmlformats.org/drawingml/2006/main" noGrp="1"/>
          </p:cNvSpPr>
          <p:nvPr/>
        </p:nvSpPr>
        <p:spPr>
          <a:xfrm xmlns:a="http://schemas.openxmlformats.org/drawingml/2006/main">
            <a:off x="1123950" y="2314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11111"/>
                </a:solidFill>
                <a:latin typeface="DejaVu Sans"/>
                <a:ea typeface="DejaVu Sans"/>
                <a:cs typeface="DejaVu Sans"/>
              </a:defRPr>
            </a:pPr>
            <a:r>
              <a:rPr sz="1650" b="1">
                <a:solidFill>
                  <a:srgbClr val="111111"/>
                </a:solidFill>
                <a:latin typeface="DejaVu Sans"/>
                <a:ea typeface="DejaVu Sans"/>
                <a:cs typeface="DejaVu Sans"/>
              </a:rPr>
              <a:t>Live voice</a:t>
            </a:r>
          </a:p>
        </p:txBody>
      </p:sp>
      <p:sp>
        <p:nvSpPr>
          <p:cNvPr id="7" name="">
            <a:extLst xmlns:a="http://schemas.openxmlformats.org/drawingml/2006/main">
              <a:ext uri="{FF2B5EF4-FFF2-40B4-BE49-F238E27FC236}">
                <a16:creationId xmlns:a16="http://schemas.microsoft.com/office/drawing/2014/main" id="{A4565528-0657-4F09-A6E3-95DCEF25407A}"/>
              </a:ext>
            </a:extLst>
          </p:cNvPr>
          <p:cNvSpPr>
            <a:spLocks xmlns:a="http://schemas.openxmlformats.org/drawingml/2006/main" noGrp="1"/>
          </p:cNvSpPr>
          <p:nvPr/>
        </p:nvSpPr>
        <p:spPr>
          <a:xfrm xmlns:a="http://schemas.openxmlformats.org/drawingml/2006/main">
            <a:off x="3962400" y="21717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4D4D49"/>
                </a:solidFill>
                <a:latin typeface="DejaVu Sans"/>
                <a:ea typeface="DejaVu Sans"/>
                <a:cs typeface="DejaVu Sans"/>
              </a:defRPr>
            </a:pPr>
            <a:r>
              <a:rPr sz="1425" b="0">
                <a:solidFill>
                  <a:srgbClr val="4D4D49"/>
                </a:solidFill>
                <a:latin typeface="DejaVu Sans"/>
                <a:ea typeface="DejaVu Sans"/>
                <a:cs typeface="DejaVu Sans"/>
              </a:rPr>
              <a:t>Natural interruption and tool delegation</a:t>
            </a:r>
          </a:p>
        </p:txBody>
      </p:sp>
      <p:sp>
        <p:nvSpPr>
          <p:cNvPr id="8" name="">
            <a:extLst xmlns:a="http://schemas.openxmlformats.org/drawingml/2006/main">
              <a:ext uri="{FF2B5EF4-FFF2-40B4-BE49-F238E27FC236}">
                <a16:creationId xmlns:a16="http://schemas.microsoft.com/office/drawing/2014/main" id="{27D2E15B-35F8-45E6-81EA-9C7BDE742308}"/>
              </a:ext>
            </a:extLst>
          </p:cNvPr>
          <p:cNvSpPr>
            <a:spLocks xmlns:a="http://schemas.openxmlformats.org/drawingml/2006/main" noGrp="1"/>
          </p:cNvSpPr>
          <p:nvPr/>
        </p:nvSpPr>
        <p:spPr>
          <a:xfrm xmlns:a="http://schemas.openxmlformats.org/drawingml/2006/main">
            <a:off x="838200" y="2914650"/>
            <a:ext cx="10515600" cy="952500"/>
          </a:xfrm>
          <a:prstGeom xmlns:a="http://schemas.openxmlformats.org/drawingml/2006/main" prst="roundRect">
            <a:avLst>
              <a:gd name="adj" fmla="val 18000"/>
            </a:avLst>
          </a:prstGeom>
          <a:solidFill xmlns:a="http://schemas.openxmlformats.org/drawingml/2006/main">
            <a:srgbClr val="F6E9BD"/>
          </a:solidFill>
          <a:ln xmlns:a="http://schemas.openxmlformats.org/drawingml/2006/main" w="9525">
            <a:solidFill>
              <a:srgbClr val="D8D8D2"/>
            </a:solidFill>
          </a:ln>
        </p:spPr>
      </p:sp>
      <p:sp>
        <p:nvSpPr>
          <p:cNvPr id="9" name="">
            <a:extLst xmlns:a="http://schemas.openxmlformats.org/drawingml/2006/main">
              <a:ext uri="{FF2B5EF4-FFF2-40B4-BE49-F238E27FC236}">
                <a16:creationId xmlns:a16="http://schemas.microsoft.com/office/drawing/2014/main" id="{445C5F3F-66AD-4431-BDC9-F1169DADEC16}"/>
              </a:ext>
            </a:extLst>
          </p:cNvPr>
          <p:cNvSpPr>
            <a:spLocks xmlns:a="http://schemas.openxmlformats.org/drawingml/2006/main" noGrp="1"/>
          </p:cNvSpPr>
          <p:nvPr/>
        </p:nvSpPr>
        <p:spPr>
          <a:xfrm xmlns:a="http://schemas.openxmlformats.org/drawingml/2006/main">
            <a:off x="1123950" y="309562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087A60"/>
                </a:solidFill>
                <a:latin typeface="DejaVu Sans"/>
                <a:ea typeface="DejaVu Sans"/>
                <a:cs typeface="DejaVu Sans"/>
              </a:defRPr>
            </a:pPr>
            <a:r>
              <a:rPr sz="975" b="1">
                <a:solidFill>
                  <a:srgbClr val="087A60"/>
                </a:solidFill>
                <a:latin typeface="DejaVu Sans"/>
                <a:ea typeface="DejaVu Sans"/>
                <a:cs typeface="DejaVu Sans"/>
              </a:rPr>
              <a:t>EXA</a:t>
            </a:r>
          </a:p>
        </p:txBody>
      </p:sp>
      <p:sp>
        <p:nvSpPr>
          <p:cNvPr id="10" name="">
            <a:extLst xmlns:a="http://schemas.openxmlformats.org/drawingml/2006/main">
              <a:ext uri="{FF2B5EF4-FFF2-40B4-BE49-F238E27FC236}">
                <a16:creationId xmlns:a16="http://schemas.microsoft.com/office/drawing/2014/main" id="{525EF16F-0A97-4404-93AC-AD6904CE304A}"/>
              </a:ext>
            </a:extLst>
          </p:cNvPr>
          <p:cNvSpPr>
            <a:spLocks xmlns:a="http://schemas.openxmlformats.org/drawingml/2006/main" noGrp="1"/>
          </p:cNvSpPr>
          <p:nvPr/>
        </p:nvSpPr>
        <p:spPr>
          <a:xfrm xmlns:a="http://schemas.openxmlformats.org/drawingml/2006/main">
            <a:off x="1123950" y="3381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11111"/>
                </a:solidFill>
                <a:latin typeface="DejaVu Sans"/>
                <a:ea typeface="DejaVu Sans"/>
                <a:cs typeface="DejaVu Sans"/>
              </a:defRPr>
            </a:pPr>
            <a:r>
              <a:rPr sz="1650" b="1">
                <a:solidFill>
                  <a:srgbClr val="111111"/>
                </a:solidFill>
                <a:latin typeface="DejaVu Sans"/>
                <a:ea typeface="DejaVu Sans"/>
                <a:cs typeface="DejaVu Sans"/>
              </a:rPr>
              <a:t>Trusted research</a:t>
            </a:r>
          </a:p>
        </p:txBody>
      </p:sp>
      <p:sp>
        <p:nvSpPr>
          <p:cNvPr id="11" name="">
            <a:extLst xmlns:a="http://schemas.openxmlformats.org/drawingml/2006/main">
              <a:ext uri="{FF2B5EF4-FFF2-40B4-BE49-F238E27FC236}">
                <a16:creationId xmlns:a16="http://schemas.microsoft.com/office/drawing/2014/main" id="{46E3665F-9947-4901-A5DE-2FD612755E68}"/>
              </a:ext>
            </a:extLst>
          </p:cNvPr>
          <p:cNvSpPr>
            <a:spLocks xmlns:a="http://schemas.openxmlformats.org/drawingml/2006/main" noGrp="1"/>
          </p:cNvSpPr>
          <p:nvPr/>
        </p:nvSpPr>
        <p:spPr>
          <a:xfrm xmlns:a="http://schemas.openxmlformats.org/drawingml/2006/main">
            <a:off x="3962400" y="32385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4D4D49"/>
                </a:solidFill>
                <a:latin typeface="DejaVu Sans"/>
                <a:ea typeface="DejaVu Sans"/>
                <a:cs typeface="DejaVu Sans"/>
              </a:defRPr>
            </a:pPr>
            <a:r>
              <a:rPr sz="1425" b="0">
                <a:solidFill>
                  <a:srgbClr val="4D4D49"/>
                </a:solidFill>
                <a:latin typeface="DejaVu Sans"/>
                <a:ea typeface="DejaVu Sans"/>
                <a:cs typeface="DejaVu Sans"/>
              </a:rPr>
              <a:t>Official booking documentation and sources</a:t>
            </a:r>
          </a:p>
        </p:txBody>
      </p:sp>
      <p:sp>
        <p:nvSpPr>
          <p:cNvPr id="12" name="">
            <a:extLst xmlns:a="http://schemas.openxmlformats.org/drawingml/2006/main">
              <a:ext uri="{FF2B5EF4-FFF2-40B4-BE49-F238E27FC236}">
                <a16:creationId xmlns:a16="http://schemas.microsoft.com/office/drawing/2014/main" id="{D7C50245-7E96-4048-9BA3-AE19826C703B}"/>
              </a:ext>
            </a:extLst>
          </p:cNvPr>
          <p:cNvSpPr>
            <a:spLocks xmlns:a="http://schemas.openxmlformats.org/drawingml/2006/main" noGrp="1"/>
          </p:cNvSpPr>
          <p:nvPr/>
        </p:nvSpPr>
        <p:spPr>
          <a:xfrm xmlns:a="http://schemas.openxmlformats.org/drawingml/2006/main">
            <a:off x="838200" y="3981450"/>
            <a:ext cx="10515600" cy="952500"/>
          </a:xfrm>
          <a:prstGeom xmlns:a="http://schemas.openxmlformats.org/drawingml/2006/main" prst="roundRect">
            <a:avLst>
              <a:gd name="adj" fmla="val 18000"/>
            </a:avLst>
          </a:prstGeom>
          <a:solidFill xmlns:a="http://schemas.openxmlformats.org/drawingml/2006/main">
            <a:srgbClr val="EEE9E1"/>
          </a:solidFill>
          <a:ln xmlns:a="http://schemas.openxmlformats.org/drawingml/2006/main" w="9525">
            <a:solidFill>
              <a:srgbClr val="D8D8D2"/>
            </a:solidFill>
          </a:ln>
        </p:spPr>
      </p:sp>
      <p:sp>
        <p:nvSpPr>
          <p:cNvPr id="13" name="">
            <a:extLst xmlns:a="http://schemas.openxmlformats.org/drawingml/2006/main">
              <a:ext uri="{FF2B5EF4-FFF2-40B4-BE49-F238E27FC236}">
                <a16:creationId xmlns:a16="http://schemas.microsoft.com/office/drawing/2014/main" id="{4775E723-F0B1-4289-AE83-9DBF98A0B5A5}"/>
              </a:ext>
            </a:extLst>
          </p:cNvPr>
          <p:cNvSpPr>
            <a:spLocks xmlns:a="http://schemas.openxmlformats.org/drawingml/2006/main" noGrp="1"/>
          </p:cNvSpPr>
          <p:nvPr/>
        </p:nvSpPr>
        <p:spPr>
          <a:xfrm xmlns:a="http://schemas.openxmlformats.org/drawingml/2006/main">
            <a:off x="1123950" y="416242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087A60"/>
                </a:solidFill>
                <a:latin typeface="DejaVu Sans"/>
                <a:ea typeface="DejaVu Sans"/>
                <a:cs typeface="DejaVu Sans"/>
              </a:defRPr>
            </a:pPr>
            <a:r>
              <a:rPr sz="975" b="1">
                <a:solidFill>
                  <a:srgbClr val="087A60"/>
                </a:solidFill>
                <a:latin typeface="DejaVu Sans"/>
                <a:ea typeface="DejaVu Sans"/>
                <a:cs typeface="DejaVu Sans"/>
              </a:rPr>
              <a:t>COPILOTKIT</a:t>
            </a:r>
          </a:p>
        </p:txBody>
      </p:sp>
      <p:sp>
        <p:nvSpPr>
          <p:cNvPr id="14" name="">
            <a:extLst xmlns:a="http://schemas.openxmlformats.org/drawingml/2006/main">
              <a:ext uri="{FF2B5EF4-FFF2-40B4-BE49-F238E27FC236}">
                <a16:creationId xmlns:a16="http://schemas.microsoft.com/office/drawing/2014/main" id="{90DDF295-DB7E-42B7-B728-6C9F4F63772C}"/>
              </a:ext>
            </a:extLst>
          </p:cNvPr>
          <p:cNvSpPr>
            <a:spLocks xmlns:a="http://schemas.openxmlformats.org/drawingml/2006/main" noGrp="1"/>
          </p:cNvSpPr>
          <p:nvPr/>
        </p:nvSpPr>
        <p:spPr>
          <a:xfrm xmlns:a="http://schemas.openxmlformats.org/drawingml/2006/main">
            <a:off x="1123950" y="44481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11111"/>
                </a:solidFill>
                <a:latin typeface="DejaVu Sans"/>
                <a:ea typeface="DejaVu Sans"/>
                <a:cs typeface="DejaVu Sans"/>
              </a:defRPr>
            </a:pPr>
            <a:r>
              <a:rPr sz="1650" b="1">
                <a:solidFill>
                  <a:srgbClr val="111111"/>
                </a:solidFill>
                <a:latin typeface="DejaVu Sans"/>
                <a:ea typeface="DejaVu Sans"/>
                <a:cs typeface="DejaVu Sans"/>
              </a:rPr>
              <a:t>Application UI</a:t>
            </a:r>
          </a:p>
        </p:txBody>
      </p:sp>
      <p:sp>
        <p:nvSpPr>
          <p:cNvPr id="15" name="">
            <a:extLst xmlns:a="http://schemas.openxmlformats.org/drawingml/2006/main">
              <a:ext uri="{FF2B5EF4-FFF2-40B4-BE49-F238E27FC236}">
                <a16:creationId xmlns:a16="http://schemas.microsoft.com/office/drawing/2014/main" id="{419D4524-ADD2-4B91-9FBF-DDF78B96BE04}"/>
              </a:ext>
            </a:extLst>
          </p:cNvPr>
          <p:cNvSpPr>
            <a:spLocks xmlns:a="http://schemas.openxmlformats.org/drawingml/2006/main" noGrp="1"/>
          </p:cNvSpPr>
          <p:nvPr/>
        </p:nvSpPr>
        <p:spPr>
          <a:xfrm xmlns:a="http://schemas.openxmlformats.org/drawingml/2006/main">
            <a:off x="3962400" y="43053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4D4D49"/>
                </a:solidFill>
                <a:latin typeface="DejaVu Sans"/>
                <a:ea typeface="DejaVu Sans"/>
                <a:cs typeface="DejaVu Sans"/>
              </a:defRPr>
            </a:pPr>
            <a:r>
              <a:rPr sz="1425" b="0">
                <a:solidFill>
                  <a:srgbClr val="4D4D49"/>
                </a:solidFill>
                <a:latin typeface="DejaVu Sans"/>
                <a:ea typeface="DejaVu Sans"/>
                <a:cs typeface="DejaVu Sans"/>
              </a:rPr>
              <a:t>Context, findings, approval and shared state</a:t>
            </a:r>
          </a:p>
        </p:txBody>
      </p:sp>
      <p:sp>
        <p:nvSpPr>
          <p:cNvPr id="16" name="">
            <a:extLst xmlns:a="http://schemas.openxmlformats.org/drawingml/2006/main">
              <a:ext uri="{FF2B5EF4-FFF2-40B4-BE49-F238E27FC236}">
                <a16:creationId xmlns:a16="http://schemas.microsoft.com/office/drawing/2014/main" id="{BC00507F-D3A9-469C-AC6F-E9A450B87C6D}"/>
              </a:ext>
            </a:extLst>
          </p:cNvPr>
          <p:cNvSpPr>
            <a:spLocks xmlns:a="http://schemas.openxmlformats.org/drawingml/2006/main" noGrp="1"/>
          </p:cNvSpPr>
          <p:nvPr/>
        </p:nvSpPr>
        <p:spPr>
          <a:xfrm xmlns:a="http://schemas.openxmlformats.org/drawingml/2006/main">
            <a:off x="838200" y="5048250"/>
            <a:ext cx="10515600" cy="952500"/>
          </a:xfrm>
          <a:prstGeom xmlns:a="http://schemas.openxmlformats.org/drawingml/2006/main" prst="roundRect">
            <a:avLst>
              <a:gd name="adj" fmla="val 18000"/>
            </a:avLst>
          </a:prstGeom>
          <a:solidFill xmlns:a="http://schemas.openxmlformats.org/drawingml/2006/main">
            <a:srgbClr val="FFFFFF"/>
          </a:solidFill>
          <a:ln xmlns:a="http://schemas.openxmlformats.org/drawingml/2006/main" w="9525">
            <a:solidFill>
              <a:srgbClr val="D8D8D2"/>
            </a:solidFill>
          </a:ln>
        </p:spPr>
      </p:sp>
      <p:sp>
        <p:nvSpPr>
          <p:cNvPr id="17" name="">
            <a:extLst xmlns:a="http://schemas.openxmlformats.org/drawingml/2006/main">
              <a:ext uri="{FF2B5EF4-FFF2-40B4-BE49-F238E27FC236}">
                <a16:creationId xmlns:a16="http://schemas.microsoft.com/office/drawing/2014/main" id="{A9E77B7D-5CE3-4C01-999B-44B5971CA33F}"/>
              </a:ext>
            </a:extLst>
          </p:cNvPr>
          <p:cNvSpPr>
            <a:spLocks xmlns:a="http://schemas.openxmlformats.org/drawingml/2006/main" noGrp="1"/>
          </p:cNvSpPr>
          <p:nvPr/>
        </p:nvSpPr>
        <p:spPr>
          <a:xfrm xmlns:a="http://schemas.openxmlformats.org/drawingml/2006/main">
            <a:off x="1123950" y="5229225"/>
            <a:ext cx="2143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087A60"/>
                </a:solidFill>
                <a:latin typeface="DejaVu Sans"/>
                <a:ea typeface="DejaVu Sans"/>
                <a:cs typeface="DejaVu Sans"/>
              </a:defRPr>
            </a:pPr>
            <a:r>
              <a:rPr sz="975" b="1">
                <a:solidFill>
                  <a:srgbClr val="087A60"/>
                </a:solidFill>
                <a:latin typeface="DejaVu Sans"/>
                <a:ea typeface="DejaVu Sans"/>
                <a:cs typeface="DejaVu Sans"/>
              </a:rPr>
              <a:t>AMBIGUOUS AI</a:t>
            </a:r>
          </a:p>
        </p:txBody>
      </p:sp>
      <p:sp>
        <p:nvSpPr>
          <p:cNvPr id="18" name="">
            <a:extLst xmlns:a="http://schemas.openxmlformats.org/drawingml/2006/main">
              <a:ext uri="{FF2B5EF4-FFF2-40B4-BE49-F238E27FC236}">
                <a16:creationId xmlns:a16="http://schemas.microsoft.com/office/drawing/2014/main" id="{164A18A0-1CA0-4523-A34C-68B49740C6DD}"/>
              </a:ext>
            </a:extLst>
          </p:cNvPr>
          <p:cNvSpPr>
            <a:spLocks xmlns:a="http://schemas.openxmlformats.org/drawingml/2006/main" noGrp="1"/>
          </p:cNvSpPr>
          <p:nvPr/>
        </p:nvSpPr>
        <p:spPr>
          <a:xfrm xmlns:a="http://schemas.openxmlformats.org/drawingml/2006/main">
            <a:off x="1123950" y="5514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73"/>
          </a:bodyPr>
          <a:lstStyle xmlns:a="http://schemas.openxmlformats.org/drawingml/2006/main"/>
          <a:p xmlns:a="http://schemas.openxmlformats.org/drawingml/2006/main">
            <a:pPr algn="l">
              <a:defRPr sz="1650" b="1">
                <a:solidFill>
                  <a:srgbClr val="111111"/>
                </a:solidFill>
                <a:latin typeface="DejaVu Sans"/>
                <a:ea typeface="DejaVu Sans"/>
                <a:cs typeface="DejaVu Sans"/>
              </a:defRPr>
            </a:pPr>
            <a:r>
              <a:rPr sz="1650" b="1">
                <a:solidFill>
                  <a:srgbClr val="111111"/>
                </a:solidFill>
                <a:latin typeface="DejaVu Sans"/>
                <a:ea typeface="DejaVu Sans"/>
                <a:cs typeface="DejaVu Sans"/>
              </a:rPr>
              <a:t>Resolution record</a:t>
            </a:r>
          </a:p>
        </p:txBody>
      </p:sp>
      <p:sp>
        <p:nvSpPr>
          <p:cNvPr id="19" name="">
            <a:extLst xmlns:a="http://schemas.openxmlformats.org/drawingml/2006/main">
              <a:ext uri="{FF2B5EF4-FFF2-40B4-BE49-F238E27FC236}">
                <a16:creationId xmlns:a16="http://schemas.microsoft.com/office/drawing/2014/main" id="{37CBACC9-0F73-4452-B1F0-3AC45498D6CA}"/>
              </a:ext>
            </a:extLst>
          </p:cNvPr>
          <p:cNvSpPr>
            <a:spLocks xmlns:a="http://schemas.openxmlformats.org/drawingml/2006/main" noGrp="1"/>
          </p:cNvSpPr>
          <p:nvPr/>
        </p:nvSpPr>
        <p:spPr>
          <a:xfrm xmlns:a="http://schemas.openxmlformats.org/drawingml/2006/main">
            <a:off x="3962400" y="5372100"/>
            <a:ext cx="685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4D4D49"/>
                </a:solidFill>
                <a:latin typeface="DejaVu Sans"/>
                <a:ea typeface="DejaVu Sans"/>
                <a:cs typeface="DejaVu Sans"/>
              </a:defRPr>
            </a:pPr>
            <a:r>
              <a:rPr sz="1425" b="0">
                <a:solidFill>
                  <a:srgbClr val="4D4D49"/>
                </a:solidFill>
                <a:latin typeface="DejaVu Sans"/>
                <a:ea typeface="DejaVu Sans"/>
                <a:cs typeface="DejaVu Sans"/>
              </a:rPr>
              <a:t>Optional incident history after verification</a:t>
            </a:r>
          </a:p>
        </p:txBody>
      </p:sp>
      <p:sp>
        <p:nvSpPr>
          <p:cNvPr id="20" name="">
            <a:extLst xmlns:a="http://schemas.openxmlformats.org/drawingml/2006/main">
              <a:ext uri="{FF2B5EF4-FFF2-40B4-BE49-F238E27FC236}">
                <a16:creationId xmlns:a16="http://schemas.microsoft.com/office/drawing/2014/main" id="{2E294632-56FC-4A97-8057-15589F0CD65D}"/>
              </a:ext>
            </a:extLst>
          </p:cNvPr>
          <p:cNvSpPr>
            <a:spLocks xmlns:a="http://schemas.openxmlformats.org/drawingml/2006/main" noGrp="1"/>
          </p:cNvSpPr>
          <p:nvPr/>
        </p:nvSpPr>
        <p:spPr>
          <a:xfrm xmlns:a="http://schemas.openxmlformats.org/drawingml/2006/main">
            <a:off x="685800" y="64579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67"/>
          </a:bodyPr>
          <a:lstStyle xmlns:a="http://schemas.openxmlformats.org/drawingml/2006/main"/>
          <a:p xmlns:a="http://schemas.openxmlformats.org/drawingml/2006/main">
            <a:pPr algn="l">
              <a:defRPr sz="750" b="0">
                <a:solidFill>
                  <a:srgbClr val="777772"/>
                </a:solidFill>
                <a:latin typeface="DejaVu Sans"/>
                <a:ea typeface="DejaVu Sans"/>
                <a:cs typeface="DejaVu Sans"/>
              </a:defRPr>
            </a:pPr>
            <a:r>
              <a:rPr sz="750" b="0">
                <a:solidFill>
                  <a:srgbClr val="777772"/>
                </a:solidFill>
                <a:latin typeface="DejaVu Sans"/>
                <a:ea typeface="DejaVu Sans"/>
                <a:cs typeface="DejaVu Sans"/>
              </a:rPr>
              <a:t>JustAsk   07</a:t>
            </a:r>
          </a:p>
        </p:txBody>
      </p:sp>
    </p:spTree>
    <p:extLst>
      <p:ext uri="{BB962C8B-B14F-4D97-AF65-F5344CB8AC3E}">
        <p14:creationId xmlns:p14="http://schemas.microsoft.com/office/powerpoint/2010/main" val="1610588949"/>
      </p:ext>
    </p:extLst>
  </p:cSld>
</p:sld>
</file>

<file path=ppt/slides/slide8.xml><?xml version="1.0" encoding="utf-8"?>
<p:sld xmlns:p="http://schemas.openxmlformats.org/presentationml/2006/main">
  <p:cSld>
    <p:bg>
      <p:bgPr>
        <a:solidFill xmlns:a="http://schemas.openxmlformats.org/drawingml/2006/main">
          <a:srgbClr val="F7F7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4AAB5DD-1585-4FED-B1DE-669302B6D1AC}"/>
              </a:ext>
            </a:extLst>
          </p:cNvPr>
          <p:cNvSpPr>
            <a:spLocks xmlns:a="http://schemas.openxmlformats.org/drawingml/2006/main" noGrp="1"/>
          </p:cNvSpPr>
          <p:nvPr/>
        </p:nvSpPr>
        <p:spPr>
          <a:xfrm xmlns:a="http://schemas.openxmlformats.org/drawingml/2006/main">
            <a:off x="685800" y="4381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11111"/>
                </a:solidFill>
                <a:latin typeface="DejaVu Sans"/>
                <a:ea typeface="DejaVu Sans"/>
                <a:cs typeface="DejaVu Sans"/>
              </a:defRPr>
            </a:pPr>
            <a:r>
              <a:rPr sz="2550" b="1">
                <a:solidFill>
                  <a:srgbClr val="111111"/>
                </a:solidFill>
                <a:latin typeface="DejaVu Sans"/>
                <a:ea typeface="DejaVu Sans"/>
                <a:cs typeface="DejaVu Sans"/>
              </a:rPr>
              <a:t>A verified fix</a:t>
            </a:r>
          </a:p>
        </p:txBody>
      </p:sp>
      <p:sp>
        <p:nvSpPr>
          <p:cNvPr id="2" name="">
            <a:extLst xmlns:a="http://schemas.openxmlformats.org/drawingml/2006/main">
              <a:ext uri="{FF2B5EF4-FFF2-40B4-BE49-F238E27FC236}">
                <a16:creationId xmlns:a16="http://schemas.microsoft.com/office/drawing/2014/main" id="{04EF803C-FA60-4A37-B1E7-FD0DFE2CB3E5}"/>
              </a:ext>
            </a:extLst>
          </p:cNvPr>
          <p:cNvSpPr>
            <a:spLocks xmlns:a="http://schemas.openxmlformats.org/drawingml/2006/main" noGrp="1"/>
          </p:cNvSpPr>
          <p:nvPr/>
        </p:nvSpPr>
        <p:spPr>
          <a:xfrm xmlns:a="http://schemas.openxmlformats.org/drawingml/2006/main">
            <a:off x="685800" y="1104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The same customer journey proves that the repair worked.</a:t>
            </a:r>
          </a:p>
        </p:txBody>
      </p:sp>
      <p:sp>
        <p:nvSpPr>
          <p:cNvPr id="3" name="">
            <a:extLst xmlns:a="http://schemas.openxmlformats.org/drawingml/2006/main">
              <a:ext uri="{FF2B5EF4-FFF2-40B4-BE49-F238E27FC236}">
                <a16:creationId xmlns:a16="http://schemas.microsoft.com/office/drawing/2014/main" id="{2DBB7637-5D17-4CE4-8B9E-CABA23A93F3B}"/>
              </a:ext>
            </a:extLst>
          </p:cNvPr>
          <p:cNvSpPr>
            <a:spLocks xmlns:a="http://schemas.openxmlformats.org/drawingml/2006/main" noGrp="1"/>
          </p:cNvSpPr>
          <p:nvPr/>
        </p:nvSpPr>
        <p:spPr>
          <a:xfrm xmlns:a="http://schemas.openxmlformats.org/drawingml/2006/main">
            <a:off x="685800" y="1524000"/>
            <a:ext cx="495300" cy="38100"/>
          </a:xfrm>
          <a:prstGeom xmlns:a="http://schemas.openxmlformats.org/drawingml/2006/main" prst="roundRect">
            <a:avLst>
              <a:gd name="adj" fmla="val 50000"/>
            </a:avLst>
          </a:prstGeom>
          <a:solidFill xmlns:a="http://schemas.openxmlformats.org/drawingml/2006/main">
            <a:srgbClr val="10A37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4D9BBF-123D-41AA-A57B-FFA94D6F1DAF}"/>
              </a:ext>
            </a:extLst>
          </p:cNvPr>
          <p:cNvSpPr>
            <a:spLocks xmlns:a="http://schemas.openxmlformats.org/drawingml/2006/main" noGrp="1"/>
          </p:cNvSpPr>
          <p:nvPr/>
        </p:nvSpPr>
        <p:spPr>
          <a:xfrm xmlns:a="http://schemas.openxmlformats.org/drawingml/2006/main">
            <a:off x="895350" y="1971675"/>
            <a:ext cx="4476750" cy="2762250"/>
          </a:xfrm>
          <a:prstGeom xmlns:a="http://schemas.openxmlformats.org/drawingml/2006/main" prst="roundRect">
            <a:avLst>
              <a:gd name="adj" fmla="val 8276"/>
            </a:avLst>
          </a:prstGeom>
          <a:solidFill xmlns:a="http://schemas.openxmlformats.org/drawingml/2006/main">
            <a:srgbClr val="FBE5E0"/>
          </a:solidFill>
          <a:ln xmlns:a="http://schemas.openxmlformats.org/drawingml/2006/main" w="9525">
            <a:solidFill>
              <a:srgbClr val="E85D4A"/>
            </a:solidFill>
          </a:ln>
        </p:spPr>
      </p:sp>
      <p:sp>
        <p:nvSpPr>
          <p:cNvPr id="5" name="">
            <a:extLst xmlns:a="http://schemas.openxmlformats.org/drawingml/2006/main">
              <a:ext uri="{FF2B5EF4-FFF2-40B4-BE49-F238E27FC236}">
                <a16:creationId xmlns:a16="http://schemas.microsoft.com/office/drawing/2014/main" id="{3C93DA9A-58C7-415D-B82D-0F48BC39A7AC}"/>
              </a:ext>
            </a:extLst>
          </p:cNvPr>
          <p:cNvSpPr>
            <a:spLocks xmlns:a="http://schemas.openxmlformats.org/drawingml/2006/main" noGrp="1"/>
          </p:cNvSpPr>
          <p:nvPr/>
        </p:nvSpPr>
        <p:spPr>
          <a:xfrm xmlns:a="http://schemas.openxmlformats.org/drawingml/2006/main">
            <a:off x="1219200" y="22860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E85D4A"/>
                </a:solidFill>
                <a:latin typeface="DejaVu Sans"/>
                <a:ea typeface="DejaVu Sans"/>
                <a:cs typeface="DejaVu Sans"/>
              </a:defRPr>
            </a:pPr>
            <a:r>
              <a:rPr sz="975" b="1">
                <a:solidFill>
                  <a:srgbClr val="E85D4A"/>
                </a:solidFill>
                <a:latin typeface="DejaVu Sans"/>
                <a:ea typeface="DejaVu Sans"/>
                <a:cs typeface="DejaVu Sans"/>
              </a:rPr>
              <a:t>BEFORE</a:t>
            </a:r>
          </a:p>
        </p:txBody>
      </p:sp>
      <p:sp>
        <p:nvSpPr>
          <p:cNvPr id="6" name="">
            <a:extLst xmlns:a="http://schemas.openxmlformats.org/drawingml/2006/main">
              <a:ext uri="{FF2B5EF4-FFF2-40B4-BE49-F238E27FC236}">
                <a16:creationId xmlns:a16="http://schemas.microsoft.com/office/drawing/2014/main" id="{52696B73-E564-4F3A-9B00-B1DA68A82F0C}"/>
              </a:ext>
            </a:extLst>
          </p:cNvPr>
          <p:cNvSpPr>
            <a:spLocks xmlns:a="http://schemas.openxmlformats.org/drawingml/2006/main" noGrp="1"/>
          </p:cNvSpPr>
          <p:nvPr/>
        </p:nvSpPr>
        <p:spPr>
          <a:xfrm xmlns:a="http://schemas.openxmlformats.org/drawingml/2006/main">
            <a:off x="1219200" y="2733675"/>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850" b="1">
                <a:solidFill>
                  <a:srgbClr val="E85D4A"/>
                </a:solidFill>
                <a:latin typeface="DejaVu Sans"/>
                <a:ea typeface="DejaVu Sans"/>
                <a:cs typeface="DejaVu Sans"/>
              </a:defRPr>
            </a:pPr>
            <a:r>
              <a:rPr sz="5850" b="1">
                <a:solidFill>
                  <a:srgbClr val="E85D4A"/>
                </a:solidFill>
                <a:latin typeface="DejaVu Sans"/>
                <a:ea typeface="DejaVu Sans"/>
                <a:cs typeface="DejaVu Sans"/>
              </a:rPr>
              <a:t>0</a:t>
            </a:r>
          </a:p>
        </p:txBody>
      </p:sp>
      <p:sp>
        <p:nvSpPr>
          <p:cNvPr id="7" name="">
            <a:extLst xmlns:a="http://schemas.openxmlformats.org/drawingml/2006/main">
              <a:ext uri="{FF2B5EF4-FFF2-40B4-BE49-F238E27FC236}">
                <a16:creationId xmlns:a16="http://schemas.microsoft.com/office/drawing/2014/main" id="{02136638-C469-4FCC-A9F5-6B89DD36780F}"/>
              </a:ext>
            </a:extLst>
          </p:cNvPr>
          <p:cNvSpPr>
            <a:spLocks xmlns:a="http://schemas.openxmlformats.org/drawingml/2006/main" noGrp="1"/>
          </p:cNvSpPr>
          <p:nvPr/>
        </p:nvSpPr>
        <p:spPr>
          <a:xfrm xmlns:a="http://schemas.openxmlformats.org/drawingml/2006/main">
            <a:off x="1219200" y="3743325"/>
            <a:ext cx="247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appointments</a:t>
            </a:r>
          </a:p>
        </p:txBody>
      </p:sp>
      <p:sp>
        <p:nvSpPr>
          <p:cNvPr id="8" name="">
            <a:extLst xmlns:a="http://schemas.openxmlformats.org/drawingml/2006/main">
              <a:ext uri="{FF2B5EF4-FFF2-40B4-BE49-F238E27FC236}">
                <a16:creationId xmlns:a16="http://schemas.microsoft.com/office/drawing/2014/main" id="{E8D0CAF2-A392-4378-95EA-79F62EA97905}"/>
              </a:ext>
            </a:extLst>
          </p:cNvPr>
          <p:cNvSpPr>
            <a:spLocks xmlns:a="http://schemas.openxmlformats.org/drawingml/2006/main" noGrp="1"/>
          </p:cNvSpPr>
          <p:nvPr/>
        </p:nvSpPr>
        <p:spPr>
          <a:xfrm xmlns:a="http://schemas.openxmlformats.org/drawingml/2006/main">
            <a:off x="1219200" y="43053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No explanation for the owner</a:t>
            </a:r>
          </a:p>
        </p:txBody>
      </p:sp>
      <p:sp>
        <p:nvSpPr>
          <p:cNvPr id="9" name="">
            <a:extLst xmlns:a="http://schemas.openxmlformats.org/drawingml/2006/main">
              <a:ext uri="{FF2B5EF4-FFF2-40B4-BE49-F238E27FC236}">
                <a16:creationId xmlns:a16="http://schemas.microsoft.com/office/drawing/2014/main" id="{309D79AA-0E12-469A-8BB0-F49158C63CA2}"/>
              </a:ext>
            </a:extLst>
          </p:cNvPr>
          <p:cNvSpPr>
            <a:spLocks xmlns:a="http://schemas.openxmlformats.org/drawingml/2006/main" noGrp="1"/>
          </p:cNvSpPr>
          <p:nvPr/>
        </p:nvSpPr>
        <p:spPr>
          <a:xfrm xmlns:a="http://schemas.openxmlformats.org/drawingml/2006/main">
            <a:off x="6819900" y="1971675"/>
            <a:ext cx="4476750" cy="2762250"/>
          </a:xfrm>
          <a:prstGeom xmlns:a="http://schemas.openxmlformats.org/drawingml/2006/main" prst="roundRect">
            <a:avLst>
              <a:gd name="adj" fmla="val 8276"/>
            </a:avLst>
          </a:prstGeom>
          <a:solidFill xmlns:a="http://schemas.openxmlformats.org/drawingml/2006/main">
            <a:srgbClr val="DDF4EC"/>
          </a:solidFill>
          <a:ln xmlns:a="http://schemas.openxmlformats.org/drawingml/2006/main" w="9525">
            <a:solidFill>
              <a:srgbClr val="10A37F"/>
            </a:solidFill>
          </a:ln>
        </p:spPr>
      </p:sp>
      <p:sp>
        <p:nvSpPr>
          <p:cNvPr id="10" name="">
            <a:extLst xmlns:a="http://schemas.openxmlformats.org/drawingml/2006/main">
              <a:ext uri="{FF2B5EF4-FFF2-40B4-BE49-F238E27FC236}">
                <a16:creationId xmlns:a16="http://schemas.microsoft.com/office/drawing/2014/main" id="{64686B89-BE2E-49EA-BCD5-9E537E7A6C4A}"/>
              </a:ext>
            </a:extLst>
          </p:cNvPr>
          <p:cNvSpPr>
            <a:spLocks xmlns:a="http://schemas.openxmlformats.org/drawingml/2006/main" noGrp="1"/>
          </p:cNvSpPr>
          <p:nvPr/>
        </p:nvSpPr>
        <p:spPr>
          <a:xfrm xmlns:a="http://schemas.openxmlformats.org/drawingml/2006/main">
            <a:off x="7143750" y="228600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08"/>
          </a:bodyPr>
          <a:lstStyle xmlns:a="http://schemas.openxmlformats.org/drawingml/2006/main"/>
          <a:p xmlns:a="http://schemas.openxmlformats.org/drawingml/2006/main">
            <a:pPr algn="l">
              <a:defRPr sz="975" b="1">
                <a:solidFill>
                  <a:srgbClr val="087A60"/>
                </a:solidFill>
                <a:latin typeface="DejaVu Sans"/>
                <a:ea typeface="DejaVu Sans"/>
                <a:cs typeface="DejaVu Sans"/>
              </a:defRPr>
            </a:pPr>
            <a:r>
              <a:rPr sz="975" b="1">
                <a:solidFill>
                  <a:srgbClr val="087A60"/>
                </a:solidFill>
                <a:latin typeface="DejaVu Sans"/>
                <a:ea typeface="DejaVu Sans"/>
                <a:cs typeface="DejaVu Sans"/>
              </a:rPr>
              <a:t>AFTER APPROVAL</a:t>
            </a:r>
          </a:p>
        </p:txBody>
      </p:sp>
      <p:sp>
        <p:nvSpPr>
          <p:cNvPr id="11" name="">
            <a:extLst xmlns:a="http://schemas.openxmlformats.org/drawingml/2006/main">
              <a:ext uri="{FF2B5EF4-FFF2-40B4-BE49-F238E27FC236}">
                <a16:creationId xmlns:a16="http://schemas.microsoft.com/office/drawing/2014/main" id="{82FFC56B-C7DA-44CC-8AE3-E22E9A6EF3AB}"/>
              </a:ext>
            </a:extLst>
          </p:cNvPr>
          <p:cNvSpPr>
            <a:spLocks xmlns:a="http://schemas.openxmlformats.org/drawingml/2006/main" noGrp="1"/>
          </p:cNvSpPr>
          <p:nvPr/>
        </p:nvSpPr>
        <p:spPr>
          <a:xfrm xmlns:a="http://schemas.openxmlformats.org/drawingml/2006/main">
            <a:off x="7143750" y="2733675"/>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850" b="1">
                <a:solidFill>
                  <a:srgbClr val="087A60"/>
                </a:solidFill>
                <a:latin typeface="DejaVu Sans"/>
                <a:ea typeface="DejaVu Sans"/>
                <a:cs typeface="DejaVu Sans"/>
              </a:defRPr>
            </a:pPr>
            <a:r>
              <a:rPr sz="5850" b="1">
                <a:solidFill>
                  <a:srgbClr val="087A60"/>
                </a:solidFill>
                <a:latin typeface="DejaVu Sans"/>
                <a:ea typeface="DejaVu Sans"/>
                <a:cs typeface="DejaVu Sans"/>
              </a:rPr>
              <a:t>8</a:t>
            </a:r>
          </a:p>
        </p:txBody>
      </p:sp>
      <p:sp>
        <p:nvSpPr>
          <p:cNvPr id="12" name="">
            <a:extLst xmlns:a="http://schemas.openxmlformats.org/drawingml/2006/main">
              <a:ext uri="{FF2B5EF4-FFF2-40B4-BE49-F238E27FC236}">
                <a16:creationId xmlns:a16="http://schemas.microsoft.com/office/drawing/2014/main" id="{E3801AA4-9D3A-4973-A0FD-64E39533DAA4}"/>
              </a:ext>
            </a:extLst>
          </p:cNvPr>
          <p:cNvSpPr>
            <a:spLocks xmlns:a="http://schemas.openxmlformats.org/drawingml/2006/main" noGrp="1"/>
          </p:cNvSpPr>
          <p:nvPr/>
        </p:nvSpPr>
        <p:spPr>
          <a:xfrm xmlns:a="http://schemas.openxmlformats.org/drawingml/2006/main">
            <a:off x="7143750" y="3743325"/>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029"/>
          </a:bodyPr>
          <a:lstStyle xmlns:a="http://schemas.openxmlformats.org/drawingml/2006/main"/>
          <a:p xmlns:a="http://schemas.openxmlformats.org/drawingml/2006/main">
            <a:pPr algn="l">
              <a:defRPr sz="1725" b="1">
                <a:solidFill>
                  <a:srgbClr val="111111"/>
                </a:solidFill>
                <a:latin typeface="DejaVu Sans"/>
                <a:ea typeface="DejaVu Sans"/>
                <a:cs typeface="DejaVu Sans"/>
              </a:defRPr>
            </a:pPr>
            <a:r>
              <a:rPr sz="1725" b="1">
                <a:solidFill>
                  <a:srgbClr val="111111"/>
                </a:solidFill>
                <a:latin typeface="DejaVu Sans"/>
                <a:ea typeface="DejaVu Sans"/>
                <a:cs typeface="DejaVu Sans"/>
              </a:rPr>
              <a:t>available slots</a:t>
            </a:r>
          </a:p>
        </p:txBody>
      </p:sp>
      <p:sp>
        <p:nvSpPr>
          <p:cNvPr id="13" name="">
            <a:extLst xmlns:a="http://schemas.openxmlformats.org/drawingml/2006/main">
              <a:ext uri="{FF2B5EF4-FFF2-40B4-BE49-F238E27FC236}">
                <a16:creationId xmlns:a16="http://schemas.microsoft.com/office/drawing/2014/main" id="{003997A5-4D9B-4341-85A3-0AD30355ABD4}"/>
              </a:ext>
            </a:extLst>
          </p:cNvPr>
          <p:cNvSpPr>
            <a:spLocks xmlns:a="http://schemas.openxmlformats.org/drawingml/2006/main" noGrp="1"/>
          </p:cNvSpPr>
          <p:nvPr/>
        </p:nvSpPr>
        <p:spPr>
          <a:xfrm xmlns:a="http://schemas.openxmlformats.org/drawingml/2006/main">
            <a:off x="7143750" y="43053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4D4D49"/>
                </a:solidFill>
                <a:latin typeface="DejaVu Sans"/>
                <a:ea typeface="DejaVu Sans"/>
                <a:cs typeface="DejaVu Sans"/>
              </a:defRPr>
            </a:pPr>
            <a:r>
              <a:rPr sz="1275" b="0">
                <a:solidFill>
                  <a:srgbClr val="4D4D49"/>
                </a:solidFill>
                <a:latin typeface="DejaVu Sans"/>
                <a:ea typeface="DejaVu Sans"/>
                <a:cs typeface="DejaVu Sans"/>
              </a:rPr>
              <a:t>Customer test passed</a:t>
            </a:r>
          </a:p>
        </p:txBody>
      </p:sp>
      <p:sp>
        <p:nvSpPr>
          <p:cNvPr id="14" name="">
            <a:extLst xmlns:a="http://schemas.openxmlformats.org/drawingml/2006/main">
              <a:ext uri="{FF2B5EF4-FFF2-40B4-BE49-F238E27FC236}">
                <a16:creationId xmlns:a16="http://schemas.microsoft.com/office/drawing/2014/main" id="{138869FE-58C3-4705-BE32-A8E237C5703D}"/>
              </a:ext>
            </a:extLst>
          </p:cNvPr>
          <p:cNvSpPr>
            <a:spLocks xmlns:a="http://schemas.openxmlformats.org/drawingml/2006/main" noGrp="1"/>
          </p:cNvSpPr>
          <p:nvPr/>
        </p:nvSpPr>
        <p:spPr>
          <a:xfrm xmlns:a="http://schemas.openxmlformats.org/drawingml/2006/main">
            <a:off x="1485900" y="5248275"/>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17"/>
          </a:bodyPr>
          <a:lstStyle xmlns:a="http://schemas.openxmlformats.org/drawingml/2006/main"/>
          <a:p xmlns:a="http://schemas.openxmlformats.org/drawingml/2006/main">
            <a:pPr algn="ctr">
              <a:defRPr sz="1800" b="1">
                <a:solidFill>
                  <a:srgbClr val="111111"/>
                </a:solidFill>
                <a:latin typeface="DejaVu Sans"/>
                <a:ea typeface="DejaVu Sans"/>
                <a:cs typeface="DejaVu Sans"/>
              </a:defRPr>
            </a:pPr>
            <a:r>
              <a:rPr sz="1800" b="1">
                <a:solidFill>
                  <a:srgbClr val="111111"/>
                </a:solidFill>
                <a:latin typeface="DejaVu Sans"/>
                <a:ea typeface="DejaVu Sans"/>
                <a:cs typeface="DejaVu Sans"/>
              </a:rPr>
              <a:t>JustAsk resolves safe problems now and prepares a complete report when a developer is genuinely required.</a:t>
            </a:r>
          </a:p>
        </p:txBody>
      </p:sp>
      <p:sp>
        <p:nvSpPr>
          <p:cNvPr id="15" name="">
            <a:extLst xmlns:a="http://schemas.openxmlformats.org/drawingml/2006/main">
              <a:ext uri="{FF2B5EF4-FFF2-40B4-BE49-F238E27FC236}">
                <a16:creationId xmlns:a16="http://schemas.microsoft.com/office/drawing/2014/main" id="{4E325569-42C8-41DE-AEB4-741D3E8B92A9}"/>
              </a:ext>
            </a:extLst>
          </p:cNvPr>
          <p:cNvSpPr>
            <a:spLocks xmlns:a="http://schemas.openxmlformats.org/drawingml/2006/main" noGrp="1"/>
          </p:cNvSpPr>
          <p:nvPr/>
        </p:nvSpPr>
        <p:spPr>
          <a:xfrm xmlns:a="http://schemas.openxmlformats.org/drawingml/2006/main">
            <a:off x="2505075" y="5905500"/>
            <a:ext cx="7181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650" b="1">
                <a:solidFill>
                  <a:srgbClr val="087A60"/>
                </a:solidFill>
                <a:latin typeface="DejaVu Sans"/>
                <a:ea typeface="DejaVu Sans"/>
                <a:cs typeface="DejaVu Sans"/>
              </a:defRPr>
            </a:pPr>
            <a:r>
              <a:rPr sz="1650" b="1">
                <a:solidFill>
                  <a:srgbClr val="087A60"/>
                </a:solidFill>
                <a:latin typeface="DejaVu Sans"/>
                <a:ea typeface="DejaVu Sans"/>
                <a:cs typeface="DejaVu Sans"/>
              </a:rPr>
              <a:t>Your website can explain what is wrong.</a:t>
            </a:r>
          </a:p>
        </p:txBody>
      </p:sp>
      <p:sp>
        <p:nvSpPr>
          <p:cNvPr id="16" name="">
            <a:extLst xmlns:a="http://schemas.openxmlformats.org/drawingml/2006/main">
              <a:ext uri="{FF2B5EF4-FFF2-40B4-BE49-F238E27FC236}">
                <a16:creationId xmlns:a16="http://schemas.microsoft.com/office/drawing/2014/main" id="{F58DF3DE-C8B7-4140-B4E3-CDC9BBAB7635}"/>
              </a:ext>
            </a:extLst>
          </p:cNvPr>
          <p:cNvSpPr>
            <a:spLocks xmlns:a="http://schemas.openxmlformats.org/drawingml/2006/main" noGrp="1"/>
          </p:cNvSpPr>
          <p:nvPr/>
        </p:nvSpPr>
        <p:spPr>
          <a:xfrm xmlns:a="http://schemas.openxmlformats.org/drawingml/2006/main">
            <a:off x="685800" y="645795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667"/>
          </a:bodyPr>
          <a:lstStyle xmlns:a="http://schemas.openxmlformats.org/drawingml/2006/main"/>
          <a:p xmlns:a="http://schemas.openxmlformats.org/drawingml/2006/main">
            <a:pPr algn="l">
              <a:defRPr sz="750" b="0">
                <a:solidFill>
                  <a:srgbClr val="777772"/>
                </a:solidFill>
                <a:latin typeface="DejaVu Sans"/>
                <a:ea typeface="DejaVu Sans"/>
                <a:cs typeface="DejaVu Sans"/>
              </a:defRPr>
            </a:pPr>
            <a:r>
              <a:rPr sz="750" b="0">
                <a:solidFill>
                  <a:srgbClr val="777772"/>
                </a:solidFill>
                <a:latin typeface="DejaVu Sans"/>
                <a:ea typeface="DejaVu Sans"/>
                <a:cs typeface="DejaVu Sans"/>
              </a:rPr>
              <a:t>JustAsk   08</a:t>
            </a:r>
          </a:p>
        </p:txBody>
      </p:sp>
    </p:spTree>
    <p:extLst>
      <p:ext uri="{BB962C8B-B14F-4D97-AF65-F5344CB8AC3E}">
        <p14:creationId xmlns:p14="http://schemas.microsoft.com/office/powerpoint/2010/main" val="971255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2026-09-12T09:15:16.3530000Z</dcterms:created>
  <dcterms:modified xsi:type="dcterms:W3CDTF">2026-09-12T09:15:16.3530000Z</dcterms:modified>
</coreProperties>
</file>